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rimo Bold" panose="020B0604020202020204" charset="0"/>
      <p:regular r:id="rId14"/>
    </p:embeddedFont>
    <p:embeddedFont>
      <p:font typeface="Calibri" panose="020F0502020204030204" pitchFamily="34" charset="0"/>
      <p:regular r:id="rId15"/>
      <p:bold r:id="rId16"/>
      <p:italic r:id="rId17"/>
      <p:boldItalic r:id="rId18"/>
    </p:embeddedFont>
    <p:embeddedFont>
      <p:font typeface="Fira Sans" panose="020B0503050000020004" pitchFamily="34" charset="0"/>
      <p:regular r:id="rId19"/>
      <p:bold r:id="rId20"/>
      <p:italic r:id="rId21"/>
      <p:boldItalic r:id="rId22"/>
    </p:embeddedFont>
    <p:embeddedFont>
      <p:font typeface="Fira Sans Bold" panose="020B08030500000200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54" d="100"/>
          <a:sy n="54" d="100"/>
        </p:scale>
        <p:origin x="778"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43396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A6E6B6C-7EF0-4CD7-8FA1-A0F83D0EF097}" type="datetime1">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42D807-34C8-42BE-ABD1-332D5D2D99EE}" type="datetime1">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EFC83B-AFAD-4762-9E7B-B592A04D1658}" type="datetime1">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1EB1C9-0F83-47D2-B431-21BC59F97B5D}" type="datetime1">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D58503-CAED-47B2-9D93-FC45BD11E5A2}" type="datetime1">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B969B0-12A7-489F-9328-6D4EF9FD5512}" type="datetime1">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F8C0EE-BE53-4D47-B2BD-3AF87566A45A}" type="datetime1">
              <a:rPr lang="en-US" smtClean="0"/>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4994B1-828B-48D2-8C82-D8DB746069A9}" type="datetime1">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B61943-25F2-419B-870F-8413DB0AF42C}" type="datetime1">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8CC5A7-BB82-4656-9E4D-13FF66E87D05}" type="datetime1">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887287-C703-42D9-87FD-67C3C3FF4A20}" type="datetime1">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552508-2D39-4479-A3F3-D9ADEF179717}" type="datetime1">
              <a:rPr lang="en-US" smtClean="0"/>
              <a:t>12/10/2025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id="4" name="Group 4"/>
          <p:cNvGrpSpPr/>
          <p:nvPr/>
        </p:nvGrpSpPr>
        <p:grpSpPr>
          <a:xfrm>
            <a:off x="-23813" y="-13082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41631"/>
            </a:solidFill>
            <a:ln w="12700">
              <a:solidFill>
                <a:srgbClr val="000000"/>
              </a:solidFill>
            </a:ln>
          </p:spPr>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850237" y="2853630"/>
            <a:ext cx="9445526" cy="1710853"/>
          </a:xfrm>
          <a:prstGeom prst="rect">
            <a:avLst/>
          </a:prstGeom>
        </p:spPr>
        <p:txBody>
          <a:bodyPr lIns="0" tIns="0" rIns="0" bIns="0" rtlCol="0" anchor="t">
            <a:spAutoFit/>
          </a:bodyPr>
          <a:lstStyle/>
          <a:p>
            <a:pPr algn="l">
              <a:lnSpc>
                <a:spcPts val="6937"/>
              </a:lnSpc>
            </a:pPr>
            <a:r>
              <a:rPr lang="en-US" sz="5562" b="1" dirty="0">
                <a:solidFill>
                  <a:srgbClr val="F94CAF"/>
                </a:solidFill>
                <a:latin typeface="Arimo Bold"/>
                <a:ea typeface="Arimo Bold"/>
                <a:cs typeface="Arimo Bold"/>
                <a:sym typeface="Arimo Bold"/>
              </a:rPr>
              <a:t>Presentation on Indexing Types</a:t>
            </a:r>
          </a:p>
        </p:txBody>
      </p:sp>
      <p:sp>
        <p:nvSpPr>
          <p:cNvPr id="9" name="TextBox 9"/>
          <p:cNvSpPr txBox="1"/>
          <p:nvPr/>
        </p:nvSpPr>
        <p:spPr>
          <a:xfrm>
            <a:off x="8077200" y="7734300"/>
            <a:ext cx="9445526" cy="1343894"/>
          </a:xfrm>
          <a:prstGeom prst="rect">
            <a:avLst/>
          </a:prstGeom>
        </p:spPr>
        <p:txBody>
          <a:bodyPr lIns="0" tIns="0" rIns="0" bIns="0" rtlCol="0" anchor="t">
            <a:spAutoFit/>
          </a:bodyPr>
          <a:lstStyle/>
          <a:p>
            <a:pPr algn="l">
              <a:lnSpc>
                <a:spcPts val="3562"/>
              </a:lnSpc>
            </a:pPr>
            <a:r>
              <a:rPr lang="en-US" sz="2187" dirty="0">
                <a:solidFill>
                  <a:srgbClr val="DAD1E6"/>
                </a:solidFill>
                <a:latin typeface="Fira Sans"/>
                <a:ea typeface="Fira Sans"/>
                <a:cs typeface="Fira Sans"/>
                <a:sym typeface="Fira Sans"/>
              </a:rPr>
              <a:t>Made By:</a:t>
            </a:r>
          </a:p>
          <a:p>
            <a:pPr algn="l">
              <a:lnSpc>
                <a:spcPts val="3562"/>
              </a:lnSpc>
            </a:pPr>
            <a:r>
              <a:rPr lang="en-US" sz="2187" dirty="0">
                <a:solidFill>
                  <a:srgbClr val="DAD1E6"/>
                </a:solidFill>
                <a:latin typeface="Fira Sans"/>
                <a:ea typeface="Fira Sans"/>
                <a:cs typeface="Fira Sans"/>
                <a:sym typeface="Fira Sans"/>
              </a:rPr>
              <a:t>Siddharth Dawadi</a:t>
            </a:r>
          </a:p>
          <a:p>
            <a:pPr algn="l">
              <a:lnSpc>
                <a:spcPts val="3562"/>
              </a:lnSpc>
            </a:pPr>
            <a:endParaRPr lang="en-US" sz="2187" dirty="0">
              <a:solidFill>
                <a:srgbClr val="DAD1E6"/>
              </a:solidFill>
              <a:latin typeface="Fira Sans"/>
              <a:ea typeface="Fira Sans"/>
              <a:cs typeface="Fira Sans"/>
              <a:sym typeface="Fira Sans"/>
            </a:endParaRPr>
          </a:p>
        </p:txBody>
      </p:sp>
      <p:sp>
        <p:nvSpPr>
          <p:cNvPr id="13" name="Date Placeholder 12">
            <a:extLst>
              <a:ext uri="{FF2B5EF4-FFF2-40B4-BE49-F238E27FC236}">
                <a16:creationId xmlns:a16="http://schemas.microsoft.com/office/drawing/2014/main" id="{F9E60FAB-B55A-5631-70A3-FD3C6D4A9898}"/>
              </a:ext>
            </a:extLst>
          </p:cNvPr>
          <p:cNvSpPr>
            <a:spLocks noGrp="1"/>
          </p:cNvSpPr>
          <p:nvPr>
            <p:ph type="dt" sz="half" idx="10"/>
          </p:nvPr>
        </p:nvSpPr>
        <p:spPr/>
        <p:txBody>
          <a:bodyPr/>
          <a:lstStyle/>
          <a:p>
            <a:fld id="{6534A583-2593-4196-953B-C054A5CAC40C}" type="datetime1">
              <a:rPr lang="en-US" smtClean="0"/>
              <a:t>12/10/2025</a:t>
            </a:fld>
            <a:endParaRPr lang="en-US"/>
          </a:p>
        </p:txBody>
      </p:sp>
      <p:sp>
        <p:nvSpPr>
          <p:cNvPr id="14" name="Slide Number Placeholder 13">
            <a:extLst>
              <a:ext uri="{FF2B5EF4-FFF2-40B4-BE49-F238E27FC236}">
                <a16:creationId xmlns:a16="http://schemas.microsoft.com/office/drawing/2014/main" id="{CE994D50-4C0A-CD2C-0A94-1F30DBA71794}"/>
              </a:ext>
            </a:extLst>
          </p:cNvPr>
          <p:cNvSpPr>
            <a:spLocks noGrp="1"/>
          </p:cNvSpPr>
          <p:nvPr>
            <p:ph type="sldNum" sz="quarter" idx="12"/>
          </p:nvPr>
        </p:nvSpPr>
        <p:spPr>
          <a:xfrm>
            <a:off x="15082093" y="9252061"/>
            <a:ext cx="2133600" cy="365125"/>
          </a:xfrm>
        </p:spPr>
        <p:txBody>
          <a:bodyPr/>
          <a:lstStyle/>
          <a:p>
            <a:fld id="{B6F15528-21DE-4FAA-801E-634DDDAF4B2B}" type="slidenum">
              <a:rPr lang="en-US" sz="2000" smtClean="0"/>
              <a:pPr/>
              <a:t>1</a:t>
            </a:fld>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id="6" name="TextBox 6"/>
          <p:cNvSpPr txBox="1"/>
          <p:nvPr/>
        </p:nvSpPr>
        <p:spPr>
          <a:xfrm>
            <a:off x="992238" y="1058615"/>
            <a:ext cx="9213354" cy="943124"/>
          </a:xfrm>
          <a:prstGeom prst="rect">
            <a:avLst/>
          </a:prstGeom>
        </p:spPr>
        <p:txBody>
          <a:bodyPr lIns="0" tIns="0" rIns="0" bIns="0" rtlCol="0" anchor="t">
            <a:spAutoFit/>
          </a:bodyPr>
          <a:lstStyle/>
          <a:p>
            <a:pPr algn="l">
              <a:lnSpc>
                <a:spcPts val="6937"/>
              </a:lnSpc>
            </a:pPr>
            <a:r>
              <a:rPr lang="en-US" sz="5562" b="1">
                <a:solidFill>
                  <a:srgbClr val="F94CAF"/>
                </a:solidFill>
                <a:latin typeface="Arimo Bold"/>
                <a:ea typeface="Arimo Bold"/>
                <a:cs typeface="Arimo Bold"/>
                <a:sym typeface="Arimo Bold"/>
              </a:rPr>
              <a:t>What is Database Indexing?</a:t>
            </a:r>
          </a:p>
        </p:txBody>
      </p:sp>
      <p:sp>
        <p:nvSpPr>
          <p:cNvPr id="7" name="TextBox 7"/>
          <p:cNvSpPr txBox="1"/>
          <p:nvPr/>
        </p:nvSpPr>
        <p:spPr>
          <a:xfrm>
            <a:off x="954268" y="2745879"/>
            <a:ext cx="9505355" cy="1909762"/>
          </a:xfrm>
          <a:prstGeom prst="rect">
            <a:avLst/>
          </a:prstGeom>
        </p:spPr>
        <p:txBody>
          <a:bodyPr lIns="0" tIns="0" rIns="0" bIns="0" rtlCol="0" anchor="t">
            <a:spAutoFit/>
          </a:bodyPr>
          <a:lstStyle/>
          <a:p>
            <a:pPr algn="l">
              <a:lnSpc>
                <a:spcPts val="3562"/>
              </a:lnSpc>
            </a:pPr>
            <a:r>
              <a:rPr lang="en-US" sz="2187" dirty="0">
                <a:solidFill>
                  <a:srgbClr val="DAD1E6"/>
                </a:solidFill>
                <a:latin typeface="Fira Sans"/>
                <a:ea typeface="Fira Sans"/>
                <a:cs typeface="Fira Sans"/>
                <a:sym typeface="Fira Sans"/>
              </a:rPr>
              <a:t>At its core, </a:t>
            </a:r>
            <a:r>
              <a:rPr lang="en-US" sz="2187" dirty="0">
                <a:solidFill>
                  <a:srgbClr val="F94CAF"/>
                </a:solidFill>
                <a:latin typeface="Fira Sans"/>
                <a:ea typeface="Fira Sans"/>
                <a:cs typeface="Fira Sans"/>
                <a:sym typeface="Fira Sans"/>
              </a:rPr>
              <a:t>indexing</a:t>
            </a:r>
            <a:r>
              <a:rPr lang="en-US" sz="2187" dirty="0">
                <a:solidFill>
                  <a:srgbClr val="DAD1E6"/>
                </a:solidFill>
                <a:latin typeface="Fira Sans"/>
                <a:ea typeface="Fira Sans"/>
                <a:cs typeface="Fira Sans"/>
                <a:sym typeface="Fira Sans"/>
              </a:rPr>
              <a:t> is a sophisticated method employed in databases to significantly accelerate searching and data retrieval operations. Rather than exhaustively scanning every single record in a table, the database leverages a specialized data structure, known as an index.</a:t>
            </a:r>
          </a:p>
        </p:txBody>
      </p:sp>
      <p:sp>
        <p:nvSpPr>
          <p:cNvPr id="8" name="TextBox 8"/>
          <p:cNvSpPr txBox="1"/>
          <p:nvPr/>
        </p:nvSpPr>
        <p:spPr>
          <a:xfrm>
            <a:off x="992238" y="4656385"/>
            <a:ext cx="9505355" cy="1456135"/>
          </a:xfrm>
          <a:prstGeom prst="rect">
            <a:avLst/>
          </a:prstGeom>
        </p:spPr>
        <p:txBody>
          <a:bodyPr lIns="0" tIns="0" rIns="0" bIns="0" rtlCol="0" anchor="t">
            <a:spAutoFit/>
          </a:bodyPr>
          <a:lstStyle/>
          <a:p>
            <a:pPr algn="l">
              <a:lnSpc>
                <a:spcPts val="3562"/>
              </a:lnSpc>
            </a:pPr>
            <a:r>
              <a:rPr lang="en-US" sz="2187">
                <a:solidFill>
                  <a:srgbClr val="DAD1E6"/>
                </a:solidFill>
                <a:latin typeface="Fira Sans"/>
                <a:ea typeface="Fira Sans"/>
                <a:cs typeface="Fira Sans"/>
                <a:sym typeface="Fira Sans"/>
              </a:rPr>
              <a:t>Think of it like the index found at the back of a textbook: it allows you to quickly pinpoint specific topics or information without having to read the entire book cover-to-cover.</a:t>
            </a:r>
          </a:p>
        </p:txBody>
      </p:sp>
      <p:grpSp>
        <p:nvGrpSpPr>
          <p:cNvPr id="9" name="Group 9"/>
          <p:cNvGrpSpPr>
            <a:grpSpLocks noChangeAspect="1"/>
          </p:cNvGrpSpPr>
          <p:nvPr/>
        </p:nvGrpSpPr>
        <p:grpSpPr>
          <a:xfrm>
            <a:off x="11198870" y="2745879"/>
            <a:ext cx="6106269" cy="6106269"/>
            <a:chOff x="0" y="0"/>
            <a:chExt cx="8141692" cy="8141692"/>
          </a:xfrm>
        </p:grpSpPr>
        <p:sp>
          <p:nvSpPr>
            <p:cNvPr id="10" name="Freeform 10" descr="preencoded.png"/>
            <p:cNvSpPr/>
            <p:nvPr/>
          </p:nvSpPr>
          <p:spPr>
            <a:xfrm>
              <a:off x="0" y="0"/>
              <a:ext cx="8141716" cy="8141716"/>
            </a:xfrm>
            <a:custGeom>
              <a:avLst/>
              <a:gdLst/>
              <a:ahLst/>
              <a:cxnLst/>
              <a:rect l="l" t="t" r="r" b="b"/>
              <a:pathLst>
                <a:path w="8141716" h="8141716">
                  <a:moveTo>
                    <a:pt x="0" y="0"/>
                  </a:moveTo>
                  <a:lnTo>
                    <a:pt x="8141716" y="0"/>
                  </a:lnTo>
                  <a:lnTo>
                    <a:pt x="8141716" y="8141716"/>
                  </a:lnTo>
                  <a:lnTo>
                    <a:pt x="0" y="8141716"/>
                  </a:lnTo>
                  <a:lnTo>
                    <a:pt x="0" y="0"/>
                  </a:lnTo>
                  <a:close/>
                </a:path>
              </a:pathLst>
            </a:custGeom>
            <a:blipFill>
              <a:blip r:embed="rId3"/>
              <a:stretch>
                <a:fillRect/>
              </a:stretch>
            </a:blipFill>
          </p:spPr>
        </p:sp>
      </p:grpSp>
      <p:sp>
        <p:nvSpPr>
          <p:cNvPr id="14" name="Date Placeholder 13">
            <a:extLst>
              <a:ext uri="{FF2B5EF4-FFF2-40B4-BE49-F238E27FC236}">
                <a16:creationId xmlns:a16="http://schemas.microsoft.com/office/drawing/2014/main" id="{CDD7A1EE-F780-026B-2942-DDE0D349CE33}"/>
              </a:ext>
            </a:extLst>
          </p:cNvPr>
          <p:cNvSpPr>
            <a:spLocks noGrp="1"/>
          </p:cNvSpPr>
          <p:nvPr>
            <p:ph type="dt" sz="half" idx="10"/>
          </p:nvPr>
        </p:nvSpPr>
        <p:spPr>
          <a:xfrm>
            <a:off x="15773400" y="9715500"/>
            <a:ext cx="2133600" cy="365125"/>
          </a:xfrm>
        </p:spPr>
        <p:txBody>
          <a:bodyPr/>
          <a:lstStyle/>
          <a:p>
            <a:fld id="{840CF34C-66C7-4573-84A7-09965B359491}" type="datetime1">
              <a:rPr lang="en-US" smtClean="0"/>
              <a:t>12/10/2025</a:t>
            </a:fld>
            <a:endParaRPr lang="en-US" dirty="0"/>
          </a:p>
        </p:txBody>
      </p:sp>
      <p:sp>
        <p:nvSpPr>
          <p:cNvPr id="15" name="Slide Number Placeholder 14">
            <a:extLst>
              <a:ext uri="{FF2B5EF4-FFF2-40B4-BE49-F238E27FC236}">
                <a16:creationId xmlns:a16="http://schemas.microsoft.com/office/drawing/2014/main" id="{4BD8B1A3-3B24-0C7A-7C55-7B901814314C}"/>
              </a:ext>
            </a:extLst>
          </p:cNvPr>
          <p:cNvSpPr>
            <a:spLocks noGrp="1"/>
          </p:cNvSpPr>
          <p:nvPr>
            <p:ph type="sldNum" sz="quarter" idx="12"/>
          </p:nvPr>
        </p:nvSpPr>
        <p:spPr>
          <a:xfrm>
            <a:off x="14325600" y="9350375"/>
            <a:ext cx="2133600" cy="365125"/>
          </a:xfrm>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41631"/>
            </a:solidFill>
            <a:ln w="12700">
              <a:solidFill>
                <a:srgbClr val="000000"/>
              </a:solidFill>
            </a:ln>
          </p:spPr>
        </p:sp>
      </p:grpSp>
      <p:grpSp>
        <p:nvGrpSpPr>
          <p:cNvPr id="6" name="Group 6"/>
          <p:cNvGrpSpPr>
            <a:grpSpLocks noChangeAspect="1"/>
          </p:cNvGrpSpPr>
          <p:nvPr/>
        </p:nvGrpSpPr>
        <p:grpSpPr>
          <a:xfrm>
            <a:off x="0" y="0"/>
            <a:ext cx="18288000" cy="3360539"/>
            <a:chOff x="0" y="0"/>
            <a:chExt cx="24384000" cy="4480718"/>
          </a:xfrm>
        </p:grpSpPr>
        <p:sp>
          <p:nvSpPr>
            <p:cNvPr id="7" name="Freeform 7" descr="preencoded.png"/>
            <p:cNvSpPr/>
            <p:nvPr/>
          </p:nvSpPr>
          <p:spPr>
            <a:xfrm>
              <a:off x="0" y="0"/>
              <a:ext cx="24384000" cy="4480687"/>
            </a:xfrm>
            <a:custGeom>
              <a:avLst/>
              <a:gdLst/>
              <a:ahLst/>
              <a:cxnLst/>
              <a:rect l="l" t="t" r="r" b="b"/>
              <a:pathLst>
                <a:path w="24384000" h="4480687">
                  <a:moveTo>
                    <a:pt x="0" y="0"/>
                  </a:moveTo>
                  <a:lnTo>
                    <a:pt x="24384000" y="0"/>
                  </a:lnTo>
                  <a:lnTo>
                    <a:pt x="24384000" y="4480687"/>
                  </a:lnTo>
                  <a:lnTo>
                    <a:pt x="0" y="4480687"/>
                  </a:lnTo>
                  <a:lnTo>
                    <a:pt x="0" y="0"/>
                  </a:lnTo>
                  <a:close/>
                </a:path>
              </a:pathLst>
            </a:custGeom>
            <a:blipFill>
              <a:blip r:embed="rId3"/>
              <a:stretch>
                <a:fillRect t="-26" b="-27"/>
              </a:stretch>
            </a:blipFill>
          </p:spPr>
        </p:sp>
      </p:grpSp>
      <p:sp>
        <p:nvSpPr>
          <p:cNvPr id="8" name="TextBox 8"/>
          <p:cNvSpPr txBox="1"/>
          <p:nvPr/>
        </p:nvSpPr>
        <p:spPr>
          <a:xfrm>
            <a:off x="940891" y="4052144"/>
            <a:ext cx="14783097" cy="887760"/>
          </a:xfrm>
          <a:prstGeom prst="rect">
            <a:avLst/>
          </a:prstGeom>
        </p:spPr>
        <p:txBody>
          <a:bodyPr lIns="0" tIns="0" rIns="0" bIns="0" rtlCol="0" anchor="t">
            <a:spAutoFit/>
          </a:bodyPr>
          <a:lstStyle/>
          <a:p>
            <a:pPr algn="l">
              <a:lnSpc>
                <a:spcPts val="6562"/>
              </a:lnSpc>
            </a:pPr>
            <a:r>
              <a:rPr lang="en-US" sz="5250" b="1">
                <a:solidFill>
                  <a:srgbClr val="F94CAF"/>
                </a:solidFill>
                <a:latin typeface="Arimo Bold"/>
                <a:ea typeface="Arimo Bold"/>
                <a:cs typeface="Arimo Bold"/>
                <a:sym typeface="Arimo Bold"/>
              </a:rPr>
              <a:t>Primary Index: The Foundation of Fast Access</a:t>
            </a:r>
          </a:p>
        </p:txBody>
      </p:sp>
      <p:grpSp>
        <p:nvGrpSpPr>
          <p:cNvPr id="9" name="Group 9"/>
          <p:cNvGrpSpPr/>
          <p:nvPr/>
        </p:nvGrpSpPr>
        <p:grpSpPr>
          <a:xfrm>
            <a:off x="921841" y="5324029"/>
            <a:ext cx="5327600" cy="4242792"/>
            <a:chOff x="0" y="0"/>
            <a:chExt cx="7103467" cy="5657057"/>
          </a:xfrm>
        </p:grpSpPr>
        <p:sp>
          <p:nvSpPr>
            <p:cNvPr id="10" name="Freeform 10"/>
            <p:cNvSpPr/>
            <p:nvPr/>
          </p:nvSpPr>
          <p:spPr>
            <a:xfrm>
              <a:off x="25400" y="25400"/>
              <a:ext cx="7052564" cy="5606288"/>
            </a:xfrm>
            <a:custGeom>
              <a:avLst/>
              <a:gdLst/>
              <a:ahLst/>
              <a:cxnLst/>
              <a:rect l="l" t="t" r="r" b="b"/>
              <a:pathLst>
                <a:path w="7052564" h="5606288">
                  <a:moveTo>
                    <a:pt x="0" y="243840"/>
                  </a:moveTo>
                  <a:cubicBezTo>
                    <a:pt x="0" y="109220"/>
                    <a:pt x="109347" y="0"/>
                    <a:pt x="244221" y="0"/>
                  </a:cubicBezTo>
                  <a:lnTo>
                    <a:pt x="6808343" y="0"/>
                  </a:lnTo>
                  <a:cubicBezTo>
                    <a:pt x="6943217" y="0"/>
                    <a:pt x="7052564" y="109220"/>
                    <a:pt x="7052564" y="243840"/>
                  </a:cubicBezTo>
                  <a:lnTo>
                    <a:pt x="7052564" y="5362448"/>
                  </a:lnTo>
                  <a:cubicBezTo>
                    <a:pt x="7052564" y="5497068"/>
                    <a:pt x="6943217" y="5606288"/>
                    <a:pt x="6808343" y="5606288"/>
                  </a:cubicBezTo>
                  <a:lnTo>
                    <a:pt x="244221" y="5606288"/>
                  </a:lnTo>
                  <a:cubicBezTo>
                    <a:pt x="109347" y="5606288"/>
                    <a:pt x="0" y="5497068"/>
                    <a:pt x="0" y="5362448"/>
                  </a:cubicBezTo>
                  <a:close/>
                </a:path>
              </a:pathLst>
            </a:custGeom>
            <a:solidFill>
              <a:srgbClr val="241631"/>
            </a:solidFill>
            <a:ln w="12700">
              <a:solidFill>
                <a:srgbClr val="000000"/>
              </a:solidFill>
            </a:ln>
          </p:spPr>
        </p:sp>
        <p:sp>
          <p:nvSpPr>
            <p:cNvPr id="11" name="Freeform 11"/>
            <p:cNvSpPr/>
            <p:nvPr/>
          </p:nvSpPr>
          <p:spPr>
            <a:xfrm>
              <a:off x="0" y="0"/>
              <a:ext cx="7103364" cy="5657088"/>
            </a:xfrm>
            <a:custGeom>
              <a:avLst/>
              <a:gdLst/>
              <a:ahLst/>
              <a:cxnLst/>
              <a:rect l="l" t="t" r="r" b="b"/>
              <a:pathLst>
                <a:path w="7103364" h="5657088">
                  <a:moveTo>
                    <a:pt x="0" y="269240"/>
                  </a:moveTo>
                  <a:cubicBezTo>
                    <a:pt x="0" y="120523"/>
                    <a:pt x="120777" y="0"/>
                    <a:pt x="269621" y="0"/>
                  </a:cubicBezTo>
                  <a:lnTo>
                    <a:pt x="6833743" y="0"/>
                  </a:lnTo>
                  <a:lnTo>
                    <a:pt x="6833743" y="25400"/>
                  </a:lnTo>
                  <a:lnTo>
                    <a:pt x="6833743" y="0"/>
                  </a:lnTo>
                  <a:cubicBezTo>
                    <a:pt x="6982587" y="0"/>
                    <a:pt x="7103364" y="120523"/>
                    <a:pt x="7103364" y="269240"/>
                  </a:cubicBezTo>
                  <a:lnTo>
                    <a:pt x="7077964" y="269240"/>
                  </a:lnTo>
                  <a:lnTo>
                    <a:pt x="7103364" y="269240"/>
                  </a:lnTo>
                  <a:lnTo>
                    <a:pt x="7103364" y="5387848"/>
                  </a:lnTo>
                  <a:lnTo>
                    <a:pt x="7077964" y="5387848"/>
                  </a:lnTo>
                  <a:lnTo>
                    <a:pt x="7103364" y="5387848"/>
                  </a:lnTo>
                  <a:cubicBezTo>
                    <a:pt x="7103364" y="5536565"/>
                    <a:pt x="6982587" y="5657088"/>
                    <a:pt x="6833743" y="5657088"/>
                  </a:cubicBezTo>
                  <a:lnTo>
                    <a:pt x="6833743" y="5631688"/>
                  </a:lnTo>
                  <a:lnTo>
                    <a:pt x="6833743" y="5657088"/>
                  </a:lnTo>
                  <a:lnTo>
                    <a:pt x="269621" y="5657088"/>
                  </a:lnTo>
                  <a:lnTo>
                    <a:pt x="269621" y="5631688"/>
                  </a:lnTo>
                  <a:lnTo>
                    <a:pt x="269621" y="5657088"/>
                  </a:lnTo>
                  <a:cubicBezTo>
                    <a:pt x="120777" y="5657088"/>
                    <a:pt x="0" y="5536565"/>
                    <a:pt x="0" y="5387848"/>
                  </a:cubicBezTo>
                  <a:lnTo>
                    <a:pt x="0" y="269240"/>
                  </a:lnTo>
                  <a:lnTo>
                    <a:pt x="25400" y="269240"/>
                  </a:lnTo>
                  <a:lnTo>
                    <a:pt x="0" y="269240"/>
                  </a:lnTo>
                  <a:moveTo>
                    <a:pt x="50800" y="269240"/>
                  </a:moveTo>
                  <a:lnTo>
                    <a:pt x="50800" y="5387848"/>
                  </a:lnTo>
                  <a:lnTo>
                    <a:pt x="25400" y="5387848"/>
                  </a:lnTo>
                  <a:lnTo>
                    <a:pt x="50800" y="5387848"/>
                  </a:lnTo>
                  <a:cubicBezTo>
                    <a:pt x="50800" y="5508371"/>
                    <a:pt x="148717" y="5606288"/>
                    <a:pt x="269621" y="5606288"/>
                  </a:cubicBezTo>
                  <a:lnTo>
                    <a:pt x="6833743" y="5606288"/>
                  </a:lnTo>
                  <a:cubicBezTo>
                    <a:pt x="6954648" y="5606288"/>
                    <a:pt x="7052564" y="5508498"/>
                    <a:pt x="7052564" y="5387848"/>
                  </a:cubicBezTo>
                  <a:lnTo>
                    <a:pt x="7052564" y="269240"/>
                  </a:lnTo>
                  <a:cubicBezTo>
                    <a:pt x="7052564" y="148717"/>
                    <a:pt x="6954648" y="50800"/>
                    <a:pt x="6833743" y="50800"/>
                  </a:cubicBezTo>
                  <a:lnTo>
                    <a:pt x="269621" y="50800"/>
                  </a:lnTo>
                  <a:lnTo>
                    <a:pt x="269621" y="25400"/>
                  </a:lnTo>
                  <a:lnTo>
                    <a:pt x="269621" y="50800"/>
                  </a:lnTo>
                  <a:cubicBezTo>
                    <a:pt x="148717" y="50800"/>
                    <a:pt x="50800" y="148590"/>
                    <a:pt x="50800" y="269240"/>
                  </a:cubicBezTo>
                  <a:close/>
                </a:path>
              </a:pathLst>
            </a:custGeom>
            <a:solidFill>
              <a:srgbClr val="5C4E69"/>
            </a:solidFill>
            <a:ln w="12700">
              <a:solidFill>
                <a:srgbClr val="000000"/>
              </a:solidFill>
            </a:ln>
          </p:spPr>
        </p:sp>
      </p:grpSp>
      <p:grpSp>
        <p:nvGrpSpPr>
          <p:cNvPr id="12" name="Group 12"/>
          <p:cNvGrpSpPr>
            <a:grpSpLocks noChangeAspect="1"/>
          </p:cNvGrpSpPr>
          <p:nvPr/>
        </p:nvGrpSpPr>
        <p:grpSpPr>
          <a:xfrm>
            <a:off x="902791" y="5343079"/>
            <a:ext cx="152400" cy="4204692"/>
            <a:chOff x="0" y="0"/>
            <a:chExt cx="203200" cy="5606257"/>
          </a:xfrm>
        </p:grpSpPr>
        <p:sp>
          <p:nvSpPr>
            <p:cNvPr id="13" name="Freeform 13" descr="preencoded.png"/>
            <p:cNvSpPr/>
            <p:nvPr/>
          </p:nvSpPr>
          <p:spPr>
            <a:xfrm>
              <a:off x="0" y="0"/>
              <a:ext cx="203200" cy="5606288"/>
            </a:xfrm>
            <a:custGeom>
              <a:avLst/>
              <a:gdLst/>
              <a:ahLst/>
              <a:cxnLst/>
              <a:rect l="l" t="t" r="r" b="b"/>
              <a:pathLst>
                <a:path w="203200" h="5606288">
                  <a:moveTo>
                    <a:pt x="0" y="0"/>
                  </a:moveTo>
                  <a:lnTo>
                    <a:pt x="203200" y="0"/>
                  </a:lnTo>
                  <a:lnTo>
                    <a:pt x="203200" y="5606288"/>
                  </a:lnTo>
                  <a:lnTo>
                    <a:pt x="0" y="5606288"/>
                  </a:lnTo>
                  <a:lnTo>
                    <a:pt x="0" y="0"/>
                  </a:lnTo>
                  <a:close/>
                </a:path>
              </a:pathLst>
            </a:custGeom>
            <a:blipFill>
              <a:blip r:embed="rId4"/>
              <a:stretch>
                <a:fillRect l="-49" r="-49"/>
              </a:stretch>
            </a:blipFill>
          </p:spPr>
        </p:sp>
      </p:grpSp>
      <p:sp>
        <p:nvSpPr>
          <p:cNvPr id="14" name="TextBox 14"/>
          <p:cNvSpPr txBox="1"/>
          <p:nvPr/>
        </p:nvSpPr>
        <p:spPr>
          <a:xfrm>
            <a:off x="1362075" y="5621387"/>
            <a:ext cx="3360539" cy="448567"/>
          </a:xfrm>
          <a:prstGeom prst="rect">
            <a:avLst/>
          </a:prstGeom>
        </p:spPr>
        <p:txBody>
          <a:bodyPr lIns="0" tIns="0" rIns="0" bIns="0" rtlCol="0" anchor="t">
            <a:spAutoFit/>
          </a:bodyPr>
          <a:lstStyle/>
          <a:p>
            <a:pPr algn="l">
              <a:lnSpc>
                <a:spcPts val="3249"/>
              </a:lnSpc>
            </a:pPr>
            <a:r>
              <a:rPr lang="en-US" sz="2625" b="1">
                <a:solidFill>
                  <a:srgbClr val="DAD1E6"/>
                </a:solidFill>
                <a:latin typeface="Arimo Bold"/>
                <a:ea typeface="Arimo Bold"/>
                <a:cs typeface="Arimo Bold"/>
                <a:sym typeface="Arimo Bold"/>
              </a:rPr>
              <a:t>Unique Identifier</a:t>
            </a:r>
          </a:p>
        </p:txBody>
      </p:sp>
      <p:sp>
        <p:nvSpPr>
          <p:cNvPr id="15" name="TextBox 15"/>
          <p:cNvSpPr txBox="1"/>
          <p:nvPr/>
        </p:nvSpPr>
        <p:spPr>
          <a:xfrm>
            <a:off x="1362075" y="6145411"/>
            <a:ext cx="4561434" cy="2141164"/>
          </a:xfrm>
          <a:prstGeom prst="rect">
            <a:avLst/>
          </a:prstGeom>
        </p:spPr>
        <p:txBody>
          <a:bodyPr lIns="0" tIns="0" rIns="0" bIns="0" rtlCol="0" anchor="t">
            <a:spAutoFit/>
          </a:bodyPr>
          <a:lstStyle/>
          <a:p>
            <a:pPr algn="l">
              <a:lnSpc>
                <a:spcPts val="3374"/>
              </a:lnSpc>
            </a:pPr>
            <a:r>
              <a:rPr lang="en-US" sz="2062" dirty="0">
                <a:solidFill>
                  <a:srgbClr val="DAD1E6"/>
                </a:solidFill>
                <a:latin typeface="Fira Sans"/>
                <a:ea typeface="Fira Sans"/>
                <a:cs typeface="Fira Sans"/>
                <a:sym typeface="Fira Sans"/>
              </a:rPr>
              <a:t>A primary index is built on a table’s primary key. Because every primary key is unique, the primary index helps the database quickly and easily find any record.</a:t>
            </a:r>
          </a:p>
        </p:txBody>
      </p:sp>
      <p:grpSp>
        <p:nvGrpSpPr>
          <p:cNvPr id="16" name="Group 16"/>
          <p:cNvGrpSpPr/>
          <p:nvPr/>
        </p:nvGrpSpPr>
        <p:grpSpPr>
          <a:xfrm>
            <a:off x="6480125" y="5324029"/>
            <a:ext cx="5327600" cy="4242792"/>
            <a:chOff x="0" y="0"/>
            <a:chExt cx="7103467" cy="5657057"/>
          </a:xfrm>
        </p:grpSpPr>
        <p:sp>
          <p:nvSpPr>
            <p:cNvPr id="17" name="Freeform 17"/>
            <p:cNvSpPr/>
            <p:nvPr/>
          </p:nvSpPr>
          <p:spPr>
            <a:xfrm>
              <a:off x="25400" y="25400"/>
              <a:ext cx="7052564" cy="5606288"/>
            </a:xfrm>
            <a:custGeom>
              <a:avLst/>
              <a:gdLst/>
              <a:ahLst/>
              <a:cxnLst/>
              <a:rect l="l" t="t" r="r" b="b"/>
              <a:pathLst>
                <a:path w="7052564" h="5606288">
                  <a:moveTo>
                    <a:pt x="0" y="243840"/>
                  </a:moveTo>
                  <a:cubicBezTo>
                    <a:pt x="0" y="109220"/>
                    <a:pt x="109347" y="0"/>
                    <a:pt x="244221" y="0"/>
                  </a:cubicBezTo>
                  <a:lnTo>
                    <a:pt x="6808343" y="0"/>
                  </a:lnTo>
                  <a:cubicBezTo>
                    <a:pt x="6943217" y="0"/>
                    <a:pt x="7052564" y="109220"/>
                    <a:pt x="7052564" y="243840"/>
                  </a:cubicBezTo>
                  <a:lnTo>
                    <a:pt x="7052564" y="5362448"/>
                  </a:lnTo>
                  <a:cubicBezTo>
                    <a:pt x="7052564" y="5497068"/>
                    <a:pt x="6943217" y="5606288"/>
                    <a:pt x="6808343" y="5606288"/>
                  </a:cubicBezTo>
                  <a:lnTo>
                    <a:pt x="244221" y="5606288"/>
                  </a:lnTo>
                  <a:cubicBezTo>
                    <a:pt x="109347" y="5606288"/>
                    <a:pt x="0" y="5497068"/>
                    <a:pt x="0" y="5362448"/>
                  </a:cubicBezTo>
                  <a:close/>
                </a:path>
              </a:pathLst>
            </a:custGeom>
            <a:solidFill>
              <a:srgbClr val="241631"/>
            </a:solidFill>
            <a:ln w="12700">
              <a:solidFill>
                <a:srgbClr val="000000"/>
              </a:solidFill>
            </a:ln>
          </p:spPr>
        </p:sp>
        <p:sp>
          <p:nvSpPr>
            <p:cNvPr id="18" name="Freeform 18"/>
            <p:cNvSpPr/>
            <p:nvPr/>
          </p:nvSpPr>
          <p:spPr>
            <a:xfrm>
              <a:off x="0" y="0"/>
              <a:ext cx="7103364" cy="5657088"/>
            </a:xfrm>
            <a:custGeom>
              <a:avLst/>
              <a:gdLst/>
              <a:ahLst/>
              <a:cxnLst/>
              <a:rect l="l" t="t" r="r" b="b"/>
              <a:pathLst>
                <a:path w="7103364" h="5657088">
                  <a:moveTo>
                    <a:pt x="0" y="269240"/>
                  </a:moveTo>
                  <a:cubicBezTo>
                    <a:pt x="0" y="120523"/>
                    <a:pt x="120777" y="0"/>
                    <a:pt x="269621" y="0"/>
                  </a:cubicBezTo>
                  <a:lnTo>
                    <a:pt x="6833743" y="0"/>
                  </a:lnTo>
                  <a:lnTo>
                    <a:pt x="6833743" y="25400"/>
                  </a:lnTo>
                  <a:lnTo>
                    <a:pt x="6833743" y="0"/>
                  </a:lnTo>
                  <a:cubicBezTo>
                    <a:pt x="6982587" y="0"/>
                    <a:pt x="7103364" y="120523"/>
                    <a:pt x="7103364" y="269240"/>
                  </a:cubicBezTo>
                  <a:lnTo>
                    <a:pt x="7077964" y="269240"/>
                  </a:lnTo>
                  <a:lnTo>
                    <a:pt x="7103364" y="269240"/>
                  </a:lnTo>
                  <a:lnTo>
                    <a:pt x="7103364" y="5387848"/>
                  </a:lnTo>
                  <a:lnTo>
                    <a:pt x="7077964" y="5387848"/>
                  </a:lnTo>
                  <a:lnTo>
                    <a:pt x="7103364" y="5387848"/>
                  </a:lnTo>
                  <a:cubicBezTo>
                    <a:pt x="7103364" y="5536565"/>
                    <a:pt x="6982587" y="5657088"/>
                    <a:pt x="6833743" y="5657088"/>
                  </a:cubicBezTo>
                  <a:lnTo>
                    <a:pt x="6833743" y="5631688"/>
                  </a:lnTo>
                  <a:lnTo>
                    <a:pt x="6833743" y="5657088"/>
                  </a:lnTo>
                  <a:lnTo>
                    <a:pt x="269621" y="5657088"/>
                  </a:lnTo>
                  <a:lnTo>
                    <a:pt x="269621" y="5631688"/>
                  </a:lnTo>
                  <a:lnTo>
                    <a:pt x="269621" y="5657088"/>
                  </a:lnTo>
                  <a:cubicBezTo>
                    <a:pt x="120777" y="5657088"/>
                    <a:pt x="0" y="5536565"/>
                    <a:pt x="0" y="5387848"/>
                  </a:cubicBezTo>
                  <a:lnTo>
                    <a:pt x="0" y="269240"/>
                  </a:lnTo>
                  <a:lnTo>
                    <a:pt x="25400" y="269240"/>
                  </a:lnTo>
                  <a:lnTo>
                    <a:pt x="0" y="269240"/>
                  </a:lnTo>
                  <a:moveTo>
                    <a:pt x="50800" y="269240"/>
                  </a:moveTo>
                  <a:lnTo>
                    <a:pt x="50800" y="5387848"/>
                  </a:lnTo>
                  <a:lnTo>
                    <a:pt x="25400" y="5387848"/>
                  </a:lnTo>
                  <a:lnTo>
                    <a:pt x="50800" y="5387848"/>
                  </a:lnTo>
                  <a:cubicBezTo>
                    <a:pt x="50800" y="5508371"/>
                    <a:pt x="148717" y="5606288"/>
                    <a:pt x="269621" y="5606288"/>
                  </a:cubicBezTo>
                  <a:lnTo>
                    <a:pt x="6833743" y="5606288"/>
                  </a:lnTo>
                  <a:cubicBezTo>
                    <a:pt x="6954648" y="5606288"/>
                    <a:pt x="7052564" y="5508498"/>
                    <a:pt x="7052564" y="5387848"/>
                  </a:cubicBezTo>
                  <a:lnTo>
                    <a:pt x="7052564" y="269240"/>
                  </a:lnTo>
                  <a:cubicBezTo>
                    <a:pt x="7052564" y="148717"/>
                    <a:pt x="6954648" y="50800"/>
                    <a:pt x="6833743" y="50800"/>
                  </a:cubicBezTo>
                  <a:lnTo>
                    <a:pt x="269621" y="50800"/>
                  </a:lnTo>
                  <a:lnTo>
                    <a:pt x="269621" y="25400"/>
                  </a:lnTo>
                  <a:lnTo>
                    <a:pt x="269621" y="50800"/>
                  </a:lnTo>
                  <a:cubicBezTo>
                    <a:pt x="148717" y="50800"/>
                    <a:pt x="50800" y="148590"/>
                    <a:pt x="50800" y="269240"/>
                  </a:cubicBezTo>
                  <a:close/>
                </a:path>
              </a:pathLst>
            </a:custGeom>
            <a:solidFill>
              <a:srgbClr val="5C4E69"/>
            </a:solidFill>
            <a:ln w="12700">
              <a:solidFill>
                <a:srgbClr val="000000"/>
              </a:solidFill>
            </a:ln>
          </p:spPr>
        </p:sp>
      </p:grpSp>
      <p:grpSp>
        <p:nvGrpSpPr>
          <p:cNvPr id="19" name="Group 19"/>
          <p:cNvGrpSpPr>
            <a:grpSpLocks noChangeAspect="1"/>
          </p:cNvGrpSpPr>
          <p:nvPr/>
        </p:nvGrpSpPr>
        <p:grpSpPr>
          <a:xfrm>
            <a:off x="6461075" y="5343079"/>
            <a:ext cx="152400" cy="4204692"/>
            <a:chOff x="0" y="0"/>
            <a:chExt cx="203200" cy="5606257"/>
          </a:xfrm>
        </p:grpSpPr>
        <p:sp>
          <p:nvSpPr>
            <p:cNvPr id="20" name="Freeform 20" descr="preencoded.png"/>
            <p:cNvSpPr/>
            <p:nvPr/>
          </p:nvSpPr>
          <p:spPr>
            <a:xfrm>
              <a:off x="0" y="0"/>
              <a:ext cx="203200" cy="5606288"/>
            </a:xfrm>
            <a:custGeom>
              <a:avLst/>
              <a:gdLst/>
              <a:ahLst/>
              <a:cxnLst/>
              <a:rect l="l" t="t" r="r" b="b"/>
              <a:pathLst>
                <a:path w="203200" h="5606288">
                  <a:moveTo>
                    <a:pt x="0" y="0"/>
                  </a:moveTo>
                  <a:lnTo>
                    <a:pt x="203200" y="0"/>
                  </a:lnTo>
                  <a:lnTo>
                    <a:pt x="203200" y="5606288"/>
                  </a:lnTo>
                  <a:lnTo>
                    <a:pt x="0" y="5606288"/>
                  </a:lnTo>
                  <a:lnTo>
                    <a:pt x="0" y="0"/>
                  </a:lnTo>
                  <a:close/>
                </a:path>
              </a:pathLst>
            </a:custGeom>
            <a:blipFill>
              <a:blip r:embed="rId4"/>
              <a:stretch>
                <a:fillRect l="-49" r="-49"/>
              </a:stretch>
            </a:blipFill>
          </p:spPr>
        </p:sp>
      </p:grpSp>
      <p:sp>
        <p:nvSpPr>
          <p:cNvPr id="21" name="TextBox 21"/>
          <p:cNvSpPr txBox="1"/>
          <p:nvPr/>
        </p:nvSpPr>
        <p:spPr>
          <a:xfrm>
            <a:off x="6920359" y="5621387"/>
            <a:ext cx="3360539" cy="448567"/>
          </a:xfrm>
          <a:prstGeom prst="rect">
            <a:avLst/>
          </a:prstGeom>
        </p:spPr>
        <p:txBody>
          <a:bodyPr lIns="0" tIns="0" rIns="0" bIns="0" rtlCol="0" anchor="t">
            <a:spAutoFit/>
          </a:bodyPr>
          <a:lstStyle/>
          <a:p>
            <a:pPr algn="l">
              <a:lnSpc>
                <a:spcPts val="3249"/>
              </a:lnSpc>
            </a:pPr>
            <a:r>
              <a:rPr lang="en-US" sz="2625" b="1">
                <a:solidFill>
                  <a:srgbClr val="DAD1E6"/>
                </a:solidFill>
                <a:latin typeface="Arimo Bold"/>
                <a:ea typeface="Arimo Bold"/>
                <a:cs typeface="Arimo Bold"/>
                <a:sym typeface="Arimo Bold"/>
              </a:rPr>
              <a:t>Sorted Order</a:t>
            </a:r>
          </a:p>
        </p:txBody>
      </p:sp>
      <p:sp>
        <p:nvSpPr>
          <p:cNvPr id="22" name="TextBox 22"/>
          <p:cNvSpPr txBox="1"/>
          <p:nvPr/>
        </p:nvSpPr>
        <p:spPr>
          <a:xfrm>
            <a:off x="6920359" y="6145411"/>
            <a:ext cx="4561434" cy="2577180"/>
          </a:xfrm>
          <a:prstGeom prst="rect">
            <a:avLst/>
          </a:prstGeom>
        </p:spPr>
        <p:txBody>
          <a:bodyPr lIns="0" tIns="0" rIns="0" bIns="0" rtlCol="0" anchor="t">
            <a:spAutoFit/>
          </a:bodyPr>
          <a:lstStyle/>
          <a:p>
            <a:pPr algn="l">
              <a:lnSpc>
                <a:spcPts val="3374"/>
              </a:lnSpc>
            </a:pPr>
            <a:r>
              <a:rPr lang="en-US" sz="2062" dirty="0">
                <a:solidFill>
                  <a:srgbClr val="DAD1E6"/>
                </a:solidFill>
                <a:latin typeface="Fira Sans"/>
                <a:ea typeface="Fira Sans"/>
                <a:cs typeface="Fira Sans"/>
                <a:sym typeface="Fira Sans"/>
              </a:rPr>
              <a:t>In a primary index, all entries are kept sorted by the primary key. Because they are already in order, the database can find records much faster by going straight to the one it needs.</a:t>
            </a:r>
          </a:p>
        </p:txBody>
      </p:sp>
      <p:grpSp>
        <p:nvGrpSpPr>
          <p:cNvPr id="23" name="Group 23"/>
          <p:cNvGrpSpPr/>
          <p:nvPr/>
        </p:nvGrpSpPr>
        <p:grpSpPr>
          <a:xfrm>
            <a:off x="12019360" y="5206775"/>
            <a:ext cx="5327749" cy="4242792"/>
            <a:chOff x="0" y="0"/>
            <a:chExt cx="7103665" cy="5657057"/>
          </a:xfrm>
        </p:grpSpPr>
        <p:sp>
          <p:nvSpPr>
            <p:cNvPr id="24" name="Freeform 24"/>
            <p:cNvSpPr/>
            <p:nvPr/>
          </p:nvSpPr>
          <p:spPr>
            <a:xfrm>
              <a:off x="25400" y="25400"/>
              <a:ext cx="7052818" cy="5606288"/>
            </a:xfrm>
            <a:custGeom>
              <a:avLst/>
              <a:gdLst/>
              <a:ahLst/>
              <a:cxnLst/>
              <a:rect l="l" t="t" r="r" b="b"/>
              <a:pathLst>
                <a:path w="7052818" h="5606288">
                  <a:moveTo>
                    <a:pt x="0" y="243840"/>
                  </a:moveTo>
                  <a:cubicBezTo>
                    <a:pt x="0" y="109220"/>
                    <a:pt x="109347" y="0"/>
                    <a:pt x="244221" y="0"/>
                  </a:cubicBezTo>
                  <a:lnTo>
                    <a:pt x="6808597" y="0"/>
                  </a:lnTo>
                  <a:cubicBezTo>
                    <a:pt x="6943471" y="0"/>
                    <a:pt x="7052818" y="109220"/>
                    <a:pt x="7052818" y="243840"/>
                  </a:cubicBezTo>
                  <a:lnTo>
                    <a:pt x="7052818" y="5362448"/>
                  </a:lnTo>
                  <a:cubicBezTo>
                    <a:pt x="7052818" y="5497068"/>
                    <a:pt x="6943471" y="5606288"/>
                    <a:pt x="6808597" y="5606288"/>
                  </a:cubicBezTo>
                  <a:lnTo>
                    <a:pt x="244221" y="5606288"/>
                  </a:lnTo>
                  <a:cubicBezTo>
                    <a:pt x="109347" y="5606288"/>
                    <a:pt x="0" y="5497068"/>
                    <a:pt x="0" y="5362448"/>
                  </a:cubicBezTo>
                  <a:close/>
                </a:path>
              </a:pathLst>
            </a:custGeom>
            <a:solidFill>
              <a:srgbClr val="241631"/>
            </a:solidFill>
            <a:ln w="12700">
              <a:solidFill>
                <a:srgbClr val="000000"/>
              </a:solidFill>
            </a:ln>
          </p:spPr>
        </p:sp>
        <p:sp>
          <p:nvSpPr>
            <p:cNvPr id="25" name="Freeform 25"/>
            <p:cNvSpPr/>
            <p:nvPr/>
          </p:nvSpPr>
          <p:spPr>
            <a:xfrm>
              <a:off x="0" y="0"/>
              <a:ext cx="7103618" cy="5657088"/>
            </a:xfrm>
            <a:custGeom>
              <a:avLst/>
              <a:gdLst/>
              <a:ahLst/>
              <a:cxnLst/>
              <a:rect l="l" t="t" r="r" b="b"/>
              <a:pathLst>
                <a:path w="7103618" h="5657088">
                  <a:moveTo>
                    <a:pt x="0" y="269240"/>
                  </a:moveTo>
                  <a:cubicBezTo>
                    <a:pt x="0" y="120523"/>
                    <a:pt x="120777" y="0"/>
                    <a:pt x="269621" y="0"/>
                  </a:cubicBezTo>
                  <a:lnTo>
                    <a:pt x="6833997" y="0"/>
                  </a:lnTo>
                  <a:lnTo>
                    <a:pt x="6833997" y="25400"/>
                  </a:lnTo>
                  <a:lnTo>
                    <a:pt x="6833997" y="0"/>
                  </a:lnTo>
                  <a:cubicBezTo>
                    <a:pt x="6982840" y="0"/>
                    <a:pt x="7103618" y="120523"/>
                    <a:pt x="7103618" y="269240"/>
                  </a:cubicBezTo>
                  <a:lnTo>
                    <a:pt x="7078218" y="269240"/>
                  </a:lnTo>
                  <a:lnTo>
                    <a:pt x="7103618" y="269240"/>
                  </a:lnTo>
                  <a:lnTo>
                    <a:pt x="7103618" y="5387848"/>
                  </a:lnTo>
                  <a:lnTo>
                    <a:pt x="7078218" y="5387848"/>
                  </a:lnTo>
                  <a:lnTo>
                    <a:pt x="7103618" y="5387848"/>
                  </a:lnTo>
                  <a:cubicBezTo>
                    <a:pt x="7103618" y="5536565"/>
                    <a:pt x="6982840" y="5657088"/>
                    <a:pt x="6833997" y="5657088"/>
                  </a:cubicBezTo>
                  <a:lnTo>
                    <a:pt x="6833997" y="5631688"/>
                  </a:lnTo>
                  <a:lnTo>
                    <a:pt x="6833997" y="5657088"/>
                  </a:lnTo>
                  <a:lnTo>
                    <a:pt x="269621" y="5657088"/>
                  </a:lnTo>
                  <a:lnTo>
                    <a:pt x="269621" y="5631688"/>
                  </a:lnTo>
                  <a:lnTo>
                    <a:pt x="269621" y="5657088"/>
                  </a:lnTo>
                  <a:cubicBezTo>
                    <a:pt x="120777" y="5657088"/>
                    <a:pt x="0" y="5536565"/>
                    <a:pt x="0" y="5387848"/>
                  </a:cubicBezTo>
                  <a:lnTo>
                    <a:pt x="0" y="269240"/>
                  </a:lnTo>
                  <a:lnTo>
                    <a:pt x="25400" y="269240"/>
                  </a:lnTo>
                  <a:lnTo>
                    <a:pt x="0" y="269240"/>
                  </a:lnTo>
                  <a:moveTo>
                    <a:pt x="50800" y="269240"/>
                  </a:moveTo>
                  <a:lnTo>
                    <a:pt x="50800" y="5387848"/>
                  </a:lnTo>
                  <a:lnTo>
                    <a:pt x="25400" y="5387848"/>
                  </a:lnTo>
                  <a:lnTo>
                    <a:pt x="50800" y="5387848"/>
                  </a:lnTo>
                  <a:cubicBezTo>
                    <a:pt x="50800" y="5508371"/>
                    <a:pt x="148717" y="5606288"/>
                    <a:pt x="269621" y="5606288"/>
                  </a:cubicBezTo>
                  <a:lnTo>
                    <a:pt x="6833997" y="5606288"/>
                  </a:lnTo>
                  <a:cubicBezTo>
                    <a:pt x="6954901" y="5606288"/>
                    <a:pt x="7052818" y="5508498"/>
                    <a:pt x="7052818" y="5387848"/>
                  </a:cubicBezTo>
                  <a:lnTo>
                    <a:pt x="7052818" y="269240"/>
                  </a:lnTo>
                  <a:cubicBezTo>
                    <a:pt x="7052818" y="148717"/>
                    <a:pt x="6954901" y="50800"/>
                    <a:pt x="6833997" y="50800"/>
                  </a:cubicBezTo>
                  <a:lnTo>
                    <a:pt x="269621" y="50800"/>
                  </a:lnTo>
                  <a:lnTo>
                    <a:pt x="269621" y="25400"/>
                  </a:lnTo>
                  <a:lnTo>
                    <a:pt x="269621" y="50800"/>
                  </a:lnTo>
                  <a:cubicBezTo>
                    <a:pt x="148717" y="50800"/>
                    <a:pt x="50800" y="148590"/>
                    <a:pt x="50800" y="269240"/>
                  </a:cubicBezTo>
                  <a:close/>
                </a:path>
              </a:pathLst>
            </a:custGeom>
            <a:solidFill>
              <a:srgbClr val="5C4E69"/>
            </a:solidFill>
            <a:ln w="12700">
              <a:solidFill>
                <a:srgbClr val="000000"/>
              </a:solidFill>
            </a:ln>
          </p:spPr>
        </p:sp>
      </p:grpSp>
      <p:grpSp>
        <p:nvGrpSpPr>
          <p:cNvPr id="26" name="Group 26"/>
          <p:cNvGrpSpPr>
            <a:grpSpLocks noChangeAspect="1"/>
          </p:cNvGrpSpPr>
          <p:nvPr/>
        </p:nvGrpSpPr>
        <p:grpSpPr>
          <a:xfrm>
            <a:off x="12019360" y="5343079"/>
            <a:ext cx="152400" cy="4204692"/>
            <a:chOff x="0" y="0"/>
            <a:chExt cx="203200" cy="5606257"/>
          </a:xfrm>
        </p:grpSpPr>
        <p:sp>
          <p:nvSpPr>
            <p:cNvPr id="27" name="Freeform 27" descr="preencoded.png"/>
            <p:cNvSpPr/>
            <p:nvPr/>
          </p:nvSpPr>
          <p:spPr>
            <a:xfrm>
              <a:off x="0" y="0"/>
              <a:ext cx="203200" cy="5606288"/>
            </a:xfrm>
            <a:custGeom>
              <a:avLst/>
              <a:gdLst/>
              <a:ahLst/>
              <a:cxnLst/>
              <a:rect l="l" t="t" r="r" b="b"/>
              <a:pathLst>
                <a:path w="203200" h="5606288">
                  <a:moveTo>
                    <a:pt x="0" y="0"/>
                  </a:moveTo>
                  <a:lnTo>
                    <a:pt x="203200" y="0"/>
                  </a:lnTo>
                  <a:lnTo>
                    <a:pt x="203200" y="5606288"/>
                  </a:lnTo>
                  <a:lnTo>
                    <a:pt x="0" y="5606288"/>
                  </a:lnTo>
                  <a:lnTo>
                    <a:pt x="0" y="0"/>
                  </a:lnTo>
                  <a:close/>
                </a:path>
              </a:pathLst>
            </a:custGeom>
            <a:blipFill>
              <a:blip r:embed="rId4"/>
              <a:stretch>
                <a:fillRect l="-49" r="-49"/>
              </a:stretch>
            </a:blipFill>
          </p:spPr>
        </p:sp>
      </p:grpSp>
      <p:sp>
        <p:nvSpPr>
          <p:cNvPr id="28" name="TextBox 28"/>
          <p:cNvSpPr txBox="1"/>
          <p:nvPr/>
        </p:nvSpPr>
        <p:spPr>
          <a:xfrm>
            <a:off x="12478642" y="5621387"/>
            <a:ext cx="3360539" cy="448567"/>
          </a:xfrm>
          <a:prstGeom prst="rect">
            <a:avLst/>
          </a:prstGeom>
        </p:spPr>
        <p:txBody>
          <a:bodyPr lIns="0" tIns="0" rIns="0" bIns="0" rtlCol="0" anchor="t">
            <a:spAutoFit/>
          </a:bodyPr>
          <a:lstStyle/>
          <a:p>
            <a:pPr algn="l">
              <a:lnSpc>
                <a:spcPts val="3249"/>
              </a:lnSpc>
            </a:pPr>
            <a:r>
              <a:rPr lang="en-US" sz="2625" b="1" dirty="0">
                <a:solidFill>
                  <a:srgbClr val="DAD1E6"/>
                </a:solidFill>
                <a:latin typeface="Arimo Bold"/>
                <a:ea typeface="Arimo Bold"/>
                <a:cs typeface="Arimo Bold"/>
                <a:sym typeface="Arimo Bold"/>
              </a:rPr>
              <a:t>Dense or Sparse</a:t>
            </a:r>
          </a:p>
        </p:txBody>
      </p:sp>
      <p:sp>
        <p:nvSpPr>
          <p:cNvPr id="29" name="TextBox 29"/>
          <p:cNvSpPr txBox="1"/>
          <p:nvPr/>
        </p:nvSpPr>
        <p:spPr>
          <a:xfrm>
            <a:off x="12478642" y="6145411"/>
            <a:ext cx="4561582" cy="2141164"/>
          </a:xfrm>
          <a:prstGeom prst="rect">
            <a:avLst/>
          </a:prstGeom>
        </p:spPr>
        <p:txBody>
          <a:bodyPr lIns="0" tIns="0" rIns="0" bIns="0" rtlCol="0" anchor="t">
            <a:spAutoFit/>
          </a:bodyPr>
          <a:lstStyle/>
          <a:p>
            <a:pPr algn="l">
              <a:lnSpc>
                <a:spcPts val="3374"/>
              </a:lnSpc>
            </a:pPr>
            <a:r>
              <a:rPr lang="en-US" sz="2062" dirty="0">
                <a:solidFill>
                  <a:srgbClr val="DAD1E6"/>
                </a:solidFill>
                <a:latin typeface="Fira Sans"/>
                <a:ea typeface="Fira Sans"/>
                <a:cs typeface="Fira Sans"/>
                <a:sym typeface="Fira Sans"/>
              </a:rPr>
              <a:t>Primary indexes can be dense (one entry for every record) or sparse (one entry for each block of records). Which one is used depends on speed and storage needs.</a:t>
            </a:r>
          </a:p>
        </p:txBody>
      </p:sp>
      <p:sp>
        <p:nvSpPr>
          <p:cNvPr id="33" name="Date Placeholder 32">
            <a:extLst>
              <a:ext uri="{FF2B5EF4-FFF2-40B4-BE49-F238E27FC236}">
                <a16:creationId xmlns:a16="http://schemas.microsoft.com/office/drawing/2014/main" id="{19E9202F-5F02-1213-F375-FBF180F279A7}"/>
              </a:ext>
            </a:extLst>
          </p:cNvPr>
          <p:cNvSpPr>
            <a:spLocks noGrp="1"/>
          </p:cNvSpPr>
          <p:nvPr>
            <p:ph type="dt" sz="half" idx="10"/>
          </p:nvPr>
        </p:nvSpPr>
        <p:spPr>
          <a:xfrm>
            <a:off x="295275" y="9662589"/>
            <a:ext cx="2133600" cy="365125"/>
          </a:xfrm>
        </p:spPr>
        <p:txBody>
          <a:bodyPr/>
          <a:lstStyle/>
          <a:p>
            <a:r>
              <a:rPr lang="en-US" dirty="0"/>
              <a:t>3</a:t>
            </a:r>
          </a:p>
          <a:p>
            <a:fld id="{72151E11-540B-4542-8C08-50ED3842B45F}" type="datetime1">
              <a:rPr lang="en-US" smtClean="0"/>
              <a:t>12/10/2025</a:t>
            </a:fld>
            <a:endParaRPr lang="en-US" dirty="0"/>
          </a:p>
        </p:txBody>
      </p:sp>
      <p:sp>
        <p:nvSpPr>
          <p:cNvPr id="34" name="Slide Number Placeholder 33">
            <a:extLst>
              <a:ext uri="{FF2B5EF4-FFF2-40B4-BE49-F238E27FC236}">
                <a16:creationId xmlns:a16="http://schemas.microsoft.com/office/drawing/2014/main" id="{6CE0BC3C-88C3-A8AA-2832-50C96D1DD9D8}"/>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id="6" name="TextBox 6"/>
          <p:cNvSpPr txBox="1"/>
          <p:nvPr/>
        </p:nvSpPr>
        <p:spPr>
          <a:xfrm>
            <a:off x="902047" y="651570"/>
            <a:ext cx="13529816" cy="862608"/>
          </a:xfrm>
          <a:prstGeom prst="rect">
            <a:avLst/>
          </a:prstGeom>
        </p:spPr>
        <p:txBody>
          <a:bodyPr lIns="0" tIns="0" rIns="0" bIns="0" rtlCol="0" anchor="t">
            <a:spAutoFit/>
          </a:bodyPr>
          <a:lstStyle/>
          <a:p>
            <a:pPr algn="l">
              <a:lnSpc>
                <a:spcPts val="6312"/>
              </a:lnSpc>
            </a:pPr>
            <a:r>
              <a:rPr lang="en-US" sz="5062" b="1">
                <a:solidFill>
                  <a:srgbClr val="F94CAF"/>
                </a:solidFill>
                <a:latin typeface="Arimo Bold"/>
                <a:ea typeface="Arimo Bold"/>
                <a:cs typeface="Arimo Bold"/>
                <a:sym typeface="Arimo Bold"/>
              </a:rPr>
              <a:t>Secondary Index: Expanding Search Horizons</a:t>
            </a:r>
          </a:p>
        </p:txBody>
      </p:sp>
      <p:sp>
        <p:nvSpPr>
          <p:cNvPr id="7" name="TextBox 7"/>
          <p:cNvSpPr txBox="1"/>
          <p:nvPr/>
        </p:nvSpPr>
        <p:spPr>
          <a:xfrm>
            <a:off x="892493" y="2403797"/>
            <a:ext cx="7927627" cy="1725811"/>
          </a:xfrm>
          <a:prstGeom prst="rect">
            <a:avLst/>
          </a:prstGeom>
        </p:spPr>
        <p:txBody>
          <a:bodyPr lIns="0" tIns="0" rIns="0" bIns="0" rtlCol="0" anchor="t">
            <a:spAutoFit/>
          </a:bodyPr>
          <a:lstStyle/>
          <a:p>
            <a:pPr algn="l">
              <a:lnSpc>
                <a:spcPts val="3187"/>
              </a:lnSpc>
            </a:pPr>
            <a:r>
              <a:rPr lang="en-US" sz="2000" dirty="0">
                <a:solidFill>
                  <a:srgbClr val="DAD1E6"/>
                </a:solidFill>
                <a:latin typeface="Fira Sans"/>
                <a:ea typeface="Fira Sans"/>
                <a:cs typeface="Fira Sans"/>
                <a:sym typeface="Fira Sans"/>
              </a:rPr>
              <a:t>A secondary index is a powerful tool created on a </a:t>
            </a:r>
            <a:r>
              <a:rPr lang="en-US" sz="2000" b="1" dirty="0">
                <a:solidFill>
                  <a:srgbClr val="DAD1E6"/>
                </a:solidFill>
                <a:latin typeface="Fira Sans Bold"/>
                <a:ea typeface="Fira Sans Bold"/>
                <a:cs typeface="Fira Sans Bold"/>
                <a:sym typeface="Fira Sans Bold"/>
              </a:rPr>
              <a:t>non-primary key field</a:t>
            </a:r>
            <a:r>
              <a:rPr lang="en-US" sz="2000" dirty="0">
                <a:solidFill>
                  <a:srgbClr val="DAD1E6"/>
                </a:solidFill>
                <a:latin typeface="Fira Sans"/>
                <a:ea typeface="Fira Sans"/>
                <a:cs typeface="Fira Sans"/>
                <a:sym typeface="Fira Sans"/>
              </a:rPr>
              <a:t>, such as a customer's name, city, or email address. It becomes invaluable when your application frequently performs searches using attributes other than the primary key.</a:t>
            </a:r>
          </a:p>
        </p:txBody>
      </p:sp>
      <p:sp>
        <p:nvSpPr>
          <p:cNvPr id="8" name="TextBox 8"/>
          <p:cNvSpPr txBox="1"/>
          <p:nvPr/>
        </p:nvSpPr>
        <p:spPr>
          <a:xfrm>
            <a:off x="868680" y="4446106"/>
            <a:ext cx="7927627" cy="1725811"/>
          </a:xfrm>
          <a:prstGeom prst="rect">
            <a:avLst/>
          </a:prstGeom>
        </p:spPr>
        <p:txBody>
          <a:bodyPr lIns="0" tIns="0" rIns="0" bIns="0" rtlCol="0" anchor="t">
            <a:spAutoFit/>
          </a:bodyPr>
          <a:lstStyle/>
          <a:p>
            <a:pPr algn="l">
              <a:lnSpc>
                <a:spcPts val="3187"/>
              </a:lnSpc>
            </a:pPr>
            <a:r>
              <a:rPr lang="en-US" sz="2000" dirty="0">
                <a:solidFill>
                  <a:srgbClr val="DAD1E6"/>
                </a:solidFill>
                <a:latin typeface="Fira Sans"/>
                <a:ea typeface="Fira Sans"/>
                <a:cs typeface="Fira Sans"/>
                <a:sym typeface="Fira Sans"/>
              </a:rPr>
              <a:t>Unlike primary indexes, a secondary index is </a:t>
            </a:r>
            <a:r>
              <a:rPr lang="en-US" sz="2000" dirty="0">
                <a:solidFill>
                  <a:srgbClr val="F94CAF"/>
                </a:solidFill>
                <a:latin typeface="Fira Sans"/>
                <a:ea typeface="Fira Sans"/>
                <a:cs typeface="Fira Sans"/>
                <a:sym typeface="Fira Sans"/>
              </a:rPr>
              <a:t>always dense</a:t>
            </a:r>
            <a:r>
              <a:rPr lang="en-US" sz="2000" dirty="0">
                <a:solidFill>
                  <a:srgbClr val="DAD1E6"/>
                </a:solidFill>
                <a:latin typeface="Fira Sans"/>
                <a:ea typeface="Fira Sans"/>
                <a:cs typeface="Fira Sans"/>
                <a:sym typeface="Fira Sans"/>
              </a:rPr>
              <a:t>. This means it includes an index entry for every record in the table, ensuring that all records are searchable through that specific field, regardless of their physical storage location.</a:t>
            </a:r>
          </a:p>
        </p:txBody>
      </p:sp>
      <p:grpSp>
        <p:nvGrpSpPr>
          <p:cNvPr id="9" name="Group 9"/>
          <p:cNvGrpSpPr>
            <a:grpSpLocks noChangeAspect="1"/>
          </p:cNvGrpSpPr>
          <p:nvPr/>
        </p:nvGrpSpPr>
        <p:grpSpPr>
          <a:xfrm>
            <a:off x="9467850" y="2190601"/>
            <a:ext cx="7927627" cy="7927628"/>
            <a:chOff x="0" y="0"/>
            <a:chExt cx="10570170" cy="10570170"/>
          </a:xfrm>
        </p:grpSpPr>
        <p:sp>
          <p:nvSpPr>
            <p:cNvPr id="10" name="Freeform 10" descr="preencoded.png"/>
            <p:cNvSpPr/>
            <p:nvPr/>
          </p:nvSpPr>
          <p:spPr>
            <a:xfrm>
              <a:off x="0" y="0"/>
              <a:ext cx="10570210" cy="10570210"/>
            </a:xfrm>
            <a:custGeom>
              <a:avLst/>
              <a:gdLst/>
              <a:ahLst/>
              <a:cxnLst/>
              <a:rect l="l" t="t" r="r" b="b"/>
              <a:pathLst>
                <a:path w="10570210" h="10570210">
                  <a:moveTo>
                    <a:pt x="0" y="0"/>
                  </a:moveTo>
                  <a:lnTo>
                    <a:pt x="10570210" y="0"/>
                  </a:lnTo>
                  <a:lnTo>
                    <a:pt x="10570210" y="10570210"/>
                  </a:lnTo>
                  <a:lnTo>
                    <a:pt x="0" y="10570210"/>
                  </a:lnTo>
                  <a:lnTo>
                    <a:pt x="0" y="0"/>
                  </a:lnTo>
                  <a:close/>
                </a:path>
              </a:pathLst>
            </a:custGeom>
            <a:blipFill>
              <a:blip r:embed="rId3"/>
              <a:stretch>
                <a:fillRect/>
              </a:stretch>
            </a:blipFill>
          </p:spPr>
        </p:sp>
      </p:grpSp>
      <p:sp>
        <p:nvSpPr>
          <p:cNvPr id="14" name="Date Placeholder 13">
            <a:extLst>
              <a:ext uri="{FF2B5EF4-FFF2-40B4-BE49-F238E27FC236}">
                <a16:creationId xmlns:a16="http://schemas.microsoft.com/office/drawing/2014/main" id="{A0197802-8619-2EC4-527B-B195AA5DFE5C}"/>
              </a:ext>
            </a:extLst>
          </p:cNvPr>
          <p:cNvSpPr>
            <a:spLocks noGrp="1"/>
          </p:cNvSpPr>
          <p:nvPr>
            <p:ph type="dt" sz="half" idx="10"/>
          </p:nvPr>
        </p:nvSpPr>
        <p:spPr>
          <a:xfrm>
            <a:off x="533400" y="9452867"/>
            <a:ext cx="2133600" cy="365125"/>
          </a:xfrm>
        </p:spPr>
        <p:txBody>
          <a:bodyPr/>
          <a:lstStyle/>
          <a:p>
            <a:fld id="{F6FD1C0D-44CF-4235-9524-B3A852FE7690}" type="datetime1">
              <a:rPr lang="en-US" smtClean="0"/>
              <a:t>12/10/2025</a:t>
            </a:fld>
            <a:endParaRPr lang="en-US" dirty="0"/>
          </a:p>
        </p:txBody>
      </p:sp>
      <p:sp>
        <p:nvSpPr>
          <p:cNvPr id="15" name="Slide Number Placeholder 14">
            <a:extLst>
              <a:ext uri="{FF2B5EF4-FFF2-40B4-BE49-F238E27FC236}">
                <a16:creationId xmlns:a16="http://schemas.microsoft.com/office/drawing/2014/main" id="{BE735933-A131-99EB-D38B-585C32AA4A5E}"/>
              </a:ext>
            </a:extLst>
          </p:cNvPr>
          <p:cNvSpPr>
            <a:spLocks noGrp="1"/>
          </p:cNvSpPr>
          <p:nvPr>
            <p:ph type="sldNum" sz="quarter" idx="12"/>
          </p:nvPr>
        </p:nvSpPr>
        <p:spPr>
          <a:xfrm>
            <a:off x="-814388" y="9092504"/>
            <a:ext cx="2133600" cy="365125"/>
          </a:xfrm>
        </p:spPr>
        <p:txBody>
          <a:bodyPr/>
          <a:lstStyle/>
          <a:p>
            <a:fld id="{B6F15528-21DE-4FAA-801E-634DDDAF4B2B}"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id="6" name="TextBox 6"/>
          <p:cNvSpPr txBox="1"/>
          <p:nvPr/>
        </p:nvSpPr>
        <p:spPr>
          <a:xfrm>
            <a:off x="902047" y="651570"/>
            <a:ext cx="12563475" cy="862608"/>
          </a:xfrm>
          <a:prstGeom prst="rect">
            <a:avLst/>
          </a:prstGeom>
        </p:spPr>
        <p:txBody>
          <a:bodyPr lIns="0" tIns="0" rIns="0" bIns="0" rtlCol="0" anchor="t">
            <a:spAutoFit/>
          </a:bodyPr>
          <a:lstStyle/>
          <a:p>
            <a:pPr algn="l">
              <a:lnSpc>
                <a:spcPts val="6312"/>
              </a:lnSpc>
            </a:pPr>
            <a:r>
              <a:rPr lang="en-US" sz="5062" b="1">
                <a:solidFill>
                  <a:srgbClr val="F94CAF"/>
                </a:solidFill>
                <a:latin typeface="Arimo Bold"/>
                <a:ea typeface="Arimo Bold"/>
                <a:cs typeface="Arimo Bold"/>
                <a:sym typeface="Arimo Bold"/>
              </a:rPr>
              <a:t>Clustering Index: Grouping Related Data</a:t>
            </a:r>
          </a:p>
        </p:txBody>
      </p:sp>
      <p:grpSp>
        <p:nvGrpSpPr>
          <p:cNvPr id="7" name="Group 7"/>
          <p:cNvGrpSpPr>
            <a:grpSpLocks noChangeAspect="1"/>
          </p:cNvGrpSpPr>
          <p:nvPr/>
        </p:nvGrpSpPr>
        <p:grpSpPr>
          <a:xfrm>
            <a:off x="902047" y="2190601"/>
            <a:ext cx="7927627" cy="7927628"/>
            <a:chOff x="0" y="0"/>
            <a:chExt cx="10570170" cy="10570170"/>
          </a:xfrm>
        </p:grpSpPr>
        <p:sp>
          <p:nvSpPr>
            <p:cNvPr id="8" name="Freeform 8" descr="preencoded.png"/>
            <p:cNvSpPr/>
            <p:nvPr/>
          </p:nvSpPr>
          <p:spPr>
            <a:xfrm>
              <a:off x="0" y="0"/>
              <a:ext cx="10570210" cy="10570210"/>
            </a:xfrm>
            <a:custGeom>
              <a:avLst/>
              <a:gdLst/>
              <a:ahLst/>
              <a:cxnLst/>
              <a:rect l="l" t="t" r="r" b="b"/>
              <a:pathLst>
                <a:path w="10570210" h="10570210">
                  <a:moveTo>
                    <a:pt x="0" y="0"/>
                  </a:moveTo>
                  <a:lnTo>
                    <a:pt x="10570210" y="0"/>
                  </a:lnTo>
                  <a:lnTo>
                    <a:pt x="10570210" y="10570210"/>
                  </a:lnTo>
                  <a:lnTo>
                    <a:pt x="0" y="10570210"/>
                  </a:lnTo>
                  <a:lnTo>
                    <a:pt x="0" y="0"/>
                  </a:lnTo>
                  <a:close/>
                </a:path>
              </a:pathLst>
            </a:custGeom>
            <a:blipFill>
              <a:blip r:embed="rId3"/>
              <a:stretch>
                <a:fillRect/>
              </a:stretch>
            </a:blipFill>
          </p:spPr>
        </p:sp>
      </p:grpSp>
      <p:sp>
        <p:nvSpPr>
          <p:cNvPr id="9" name="TextBox 9"/>
          <p:cNvSpPr txBox="1"/>
          <p:nvPr/>
        </p:nvSpPr>
        <p:spPr>
          <a:xfrm>
            <a:off x="9467850" y="2056359"/>
            <a:ext cx="7927627" cy="1725811"/>
          </a:xfrm>
          <a:prstGeom prst="rect">
            <a:avLst/>
          </a:prstGeom>
        </p:spPr>
        <p:txBody>
          <a:bodyPr lIns="0" tIns="0" rIns="0" bIns="0" rtlCol="0" anchor="t">
            <a:spAutoFit/>
          </a:bodyPr>
          <a:lstStyle/>
          <a:p>
            <a:pPr algn="l">
              <a:lnSpc>
                <a:spcPts val="3187"/>
              </a:lnSpc>
            </a:pPr>
            <a:r>
              <a:rPr lang="en-US" sz="2000">
                <a:solidFill>
                  <a:srgbClr val="DAD1E6"/>
                </a:solidFill>
                <a:latin typeface="Fira Sans"/>
                <a:ea typeface="Fira Sans"/>
                <a:cs typeface="Fira Sans"/>
                <a:sym typeface="Fira Sans"/>
              </a:rPr>
              <a:t>A clustering index is distinct in that it physically organizes the records in the database based on a </a:t>
            </a:r>
            <a:r>
              <a:rPr lang="en-US" sz="2000" b="1">
                <a:solidFill>
                  <a:srgbClr val="DAD1E6"/>
                </a:solidFill>
                <a:latin typeface="Fira Sans Bold"/>
                <a:ea typeface="Fira Sans Bold"/>
                <a:cs typeface="Fira Sans Bold"/>
                <a:sym typeface="Fira Sans Bold"/>
              </a:rPr>
              <a:t>non-key attribute</a:t>
            </a:r>
            <a:r>
              <a:rPr lang="en-US" sz="2000">
                <a:solidFill>
                  <a:srgbClr val="DAD1E6"/>
                </a:solidFill>
                <a:latin typeface="Fira Sans"/>
                <a:ea typeface="Fira Sans"/>
                <a:cs typeface="Fira Sans"/>
                <a:sym typeface="Fira Sans"/>
              </a:rPr>
              <a:t>. This means that records with similar values for the indexed attribute are stored together on disk.</a:t>
            </a:r>
          </a:p>
        </p:txBody>
      </p:sp>
      <p:sp>
        <p:nvSpPr>
          <p:cNvPr id="10" name="TextBox 10"/>
          <p:cNvSpPr txBox="1"/>
          <p:nvPr/>
        </p:nvSpPr>
        <p:spPr>
          <a:xfrm>
            <a:off x="9467850" y="3937844"/>
            <a:ext cx="7927627" cy="2138214"/>
          </a:xfrm>
          <a:prstGeom prst="rect">
            <a:avLst/>
          </a:prstGeom>
        </p:spPr>
        <p:txBody>
          <a:bodyPr lIns="0" tIns="0" rIns="0" bIns="0" rtlCol="0" anchor="t">
            <a:spAutoFit/>
          </a:bodyPr>
          <a:lstStyle/>
          <a:p>
            <a:pPr algn="l">
              <a:lnSpc>
                <a:spcPts val="3187"/>
              </a:lnSpc>
            </a:pPr>
            <a:r>
              <a:rPr lang="en-US" sz="2000">
                <a:solidFill>
                  <a:srgbClr val="DAD1E6"/>
                </a:solidFill>
                <a:latin typeface="Fira Sans"/>
                <a:ea typeface="Fira Sans"/>
                <a:cs typeface="Fira Sans"/>
                <a:sym typeface="Fira Sans"/>
              </a:rPr>
              <a:t>For instance, imagine a student database where records are physically arranged by department. When you search for all students in the "Computer Science" department, the database can retrieve them much faster because they are already grouped together, minimizing disk I/O operations.</a:t>
            </a:r>
          </a:p>
        </p:txBody>
      </p:sp>
      <p:sp>
        <p:nvSpPr>
          <p:cNvPr id="14" name="Date Placeholder 13">
            <a:extLst>
              <a:ext uri="{FF2B5EF4-FFF2-40B4-BE49-F238E27FC236}">
                <a16:creationId xmlns:a16="http://schemas.microsoft.com/office/drawing/2014/main" id="{9D53B5DB-2FC7-8EAB-41FD-F5D2CEB95D3F}"/>
              </a:ext>
            </a:extLst>
          </p:cNvPr>
          <p:cNvSpPr>
            <a:spLocks noGrp="1"/>
          </p:cNvSpPr>
          <p:nvPr>
            <p:ph type="dt" sz="half" idx="10"/>
          </p:nvPr>
        </p:nvSpPr>
        <p:spPr/>
        <p:txBody>
          <a:bodyPr/>
          <a:lstStyle/>
          <a:p>
            <a:fld id="{FA6EE475-6C20-4E5E-9E1D-637DD4ECF39A}" type="datetime1">
              <a:rPr lang="en-US" smtClean="0"/>
              <a:t>12/10/2025</a:t>
            </a:fld>
            <a:endParaRPr lang="en-US"/>
          </a:p>
        </p:txBody>
      </p:sp>
      <p:sp>
        <p:nvSpPr>
          <p:cNvPr id="15" name="Slide Number Placeholder 14">
            <a:extLst>
              <a:ext uri="{FF2B5EF4-FFF2-40B4-BE49-F238E27FC236}">
                <a16:creationId xmlns:a16="http://schemas.microsoft.com/office/drawing/2014/main" id="{C1A9F764-DD2B-CDEB-3A3C-0F8ACA4A84BC}"/>
              </a:ext>
            </a:extLst>
          </p:cNvPr>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41631"/>
            </a:solidFill>
            <a:ln w="12700">
              <a:solidFill>
                <a:srgbClr val="000000"/>
              </a:solidFill>
            </a:ln>
          </p:spPr>
        </p:sp>
      </p:grpSp>
      <p:grpSp>
        <p:nvGrpSpPr>
          <p:cNvPr id="6" name="Group 6"/>
          <p:cNvGrpSpPr>
            <a:grpSpLocks noChangeAspect="1"/>
          </p:cNvGrpSpPr>
          <p:nvPr/>
        </p:nvGrpSpPr>
        <p:grpSpPr>
          <a:xfrm>
            <a:off x="-31483"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691140" y="789086"/>
            <a:ext cx="9763720" cy="1544836"/>
          </a:xfrm>
          <a:prstGeom prst="rect">
            <a:avLst/>
          </a:prstGeom>
        </p:spPr>
        <p:txBody>
          <a:bodyPr lIns="0" tIns="0" rIns="0" bIns="0" rtlCol="0" anchor="t">
            <a:spAutoFit/>
          </a:bodyPr>
          <a:lstStyle/>
          <a:p>
            <a:pPr algn="l">
              <a:lnSpc>
                <a:spcPts val="5812"/>
              </a:lnSpc>
            </a:pPr>
            <a:r>
              <a:rPr lang="en-US" sz="4625" b="1">
                <a:solidFill>
                  <a:srgbClr val="F94CAF"/>
                </a:solidFill>
                <a:latin typeface="Arimo Bold"/>
                <a:ea typeface="Arimo Bold"/>
                <a:cs typeface="Arimo Bold"/>
                <a:sym typeface="Arimo Bold"/>
              </a:rPr>
              <a:t>Non-Clustered Index: Flexible Search Paths</a:t>
            </a:r>
          </a:p>
        </p:txBody>
      </p:sp>
      <p:grpSp>
        <p:nvGrpSpPr>
          <p:cNvPr id="9" name="Group 9"/>
          <p:cNvGrpSpPr/>
          <p:nvPr/>
        </p:nvGrpSpPr>
        <p:grpSpPr>
          <a:xfrm>
            <a:off x="7691140" y="3048000"/>
            <a:ext cx="4762798" cy="3279576"/>
            <a:chOff x="0" y="0"/>
            <a:chExt cx="6350397" cy="4372768"/>
          </a:xfrm>
        </p:grpSpPr>
        <p:sp>
          <p:nvSpPr>
            <p:cNvPr id="10" name="Freeform 10"/>
            <p:cNvSpPr/>
            <p:nvPr/>
          </p:nvSpPr>
          <p:spPr>
            <a:xfrm>
              <a:off x="0" y="0"/>
              <a:ext cx="6350381" cy="4372737"/>
            </a:xfrm>
            <a:custGeom>
              <a:avLst/>
              <a:gdLst/>
              <a:ahLst/>
              <a:cxnLst/>
              <a:rect l="l" t="t" r="r" b="b"/>
              <a:pathLst>
                <a:path w="6350381" h="4372737">
                  <a:moveTo>
                    <a:pt x="0" y="182880"/>
                  </a:moveTo>
                  <a:cubicBezTo>
                    <a:pt x="0" y="81915"/>
                    <a:pt x="81915" y="0"/>
                    <a:pt x="182880" y="0"/>
                  </a:cubicBezTo>
                  <a:lnTo>
                    <a:pt x="6167501" y="0"/>
                  </a:lnTo>
                  <a:cubicBezTo>
                    <a:pt x="6268466" y="0"/>
                    <a:pt x="6350381" y="81915"/>
                    <a:pt x="6350381" y="182880"/>
                  </a:cubicBezTo>
                  <a:lnTo>
                    <a:pt x="6350381" y="4189857"/>
                  </a:lnTo>
                  <a:cubicBezTo>
                    <a:pt x="6350381" y="4290822"/>
                    <a:pt x="6268466" y="4372737"/>
                    <a:pt x="6167501" y="4372737"/>
                  </a:cubicBezTo>
                  <a:lnTo>
                    <a:pt x="182880" y="4372737"/>
                  </a:lnTo>
                  <a:cubicBezTo>
                    <a:pt x="81915" y="4372737"/>
                    <a:pt x="0" y="4290822"/>
                    <a:pt x="0" y="4189857"/>
                  </a:cubicBezTo>
                  <a:close/>
                </a:path>
              </a:pathLst>
            </a:custGeom>
            <a:solidFill>
              <a:srgbClr val="241631"/>
            </a:solidFill>
            <a:ln w="12700">
              <a:solidFill>
                <a:srgbClr val="000000"/>
              </a:solidFill>
            </a:ln>
          </p:spPr>
        </p:sp>
      </p:grpSp>
      <p:grpSp>
        <p:nvGrpSpPr>
          <p:cNvPr id="11" name="Group 11"/>
          <p:cNvGrpSpPr>
            <a:grpSpLocks noChangeAspect="1"/>
          </p:cNvGrpSpPr>
          <p:nvPr/>
        </p:nvGrpSpPr>
        <p:grpSpPr>
          <a:xfrm>
            <a:off x="7691140" y="3019425"/>
            <a:ext cx="4762798" cy="114300"/>
            <a:chOff x="0" y="0"/>
            <a:chExt cx="6350397" cy="152400"/>
          </a:xfrm>
        </p:grpSpPr>
        <p:sp>
          <p:nvSpPr>
            <p:cNvPr id="12" name="Freeform 12" descr="preencoded.png"/>
            <p:cNvSpPr/>
            <p:nvPr/>
          </p:nvSpPr>
          <p:spPr>
            <a:xfrm>
              <a:off x="0" y="0"/>
              <a:ext cx="6350381" cy="152400"/>
            </a:xfrm>
            <a:custGeom>
              <a:avLst/>
              <a:gdLst/>
              <a:ahLst/>
              <a:cxnLst/>
              <a:rect l="l" t="t" r="r" b="b"/>
              <a:pathLst>
                <a:path w="6350381" h="152400">
                  <a:moveTo>
                    <a:pt x="0" y="0"/>
                  </a:moveTo>
                  <a:lnTo>
                    <a:pt x="6350381" y="0"/>
                  </a:lnTo>
                  <a:lnTo>
                    <a:pt x="6350381" y="152400"/>
                  </a:lnTo>
                  <a:lnTo>
                    <a:pt x="0" y="152400"/>
                  </a:lnTo>
                  <a:lnTo>
                    <a:pt x="0" y="0"/>
                  </a:lnTo>
                  <a:close/>
                </a:path>
              </a:pathLst>
            </a:custGeom>
            <a:blipFill>
              <a:blip r:embed="rId4"/>
              <a:stretch>
                <a:fillRect t="-3" b="-3"/>
              </a:stretch>
            </a:blipFill>
          </p:spPr>
        </p:sp>
      </p:grpSp>
      <p:grpSp>
        <p:nvGrpSpPr>
          <p:cNvPr id="13" name="Group 13"/>
          <p:cNvGrpSpPr>
            <a:grpSpLocks noChangeAspect="1"/>
          </p:cNvGrpSpPr>
          <p:nvPr/>
        </p:nvGrpSpPr>
        <p:grpSpPr>
          <a:xfrm>
            <a:off x="9715500" y="2690961"/>
            <a:ext cx="714078" cy="714078"/>
            <a:chOff x="0" y="0"/>
            <a:chExt cx="952103" cy="952103"/>
          </a:xfrm>
        </p:grpSpPr>
        <p:sp>
          <p:nvSpPr>
            <p:cNvPr id="14" name="Freeform 14" descr="preencoded.png"/>
            <p:cNvSpPr/>
            <p:nvPr/>
          </p:nvSpPr>
          <p:spPr>
            <a:xfrm>
              <a:off x="0" y="0"/>
              <a:ext cx="952119" cy="952119"/>
            </a:xfrm>
            <a:custGeom>
              <a:avLst/>
              <a:gdLst/>
              <a:ahLst/>
              <a:cxnLst/>
              <a:rect l="l" t="t" r="r" b="b"/>
              <a:pathLst>
                <a:path w="952119" h="952119">
                  <a:moveTo>
                    <a:pt x="0" y="0"/>
                  </a:moveTo>
                  <a:lnTo>
                    <a:pt x="952119" y="0"/>
                  </a:lnTo>
                  <a:lnTo>
                    <a:pt x="952119" y="952119"/>
                  </a:lnTo>
                  <a:lnTo>
                    <a:pt x="0" y="952119"/>
                  </a:lnTo>
                  <a:lnTo>
                    <a:pt x="0" y="0"/>
                  </a:lnTo>
                  <a:close/>
                </a:path>
              </a:pathLst>
            </a:custGeom>
            <a:blipFill>
              <a:blip r:embed="rId5"/>
              <a:stretch>
                <a:fillRect r="1" b="1"/>
              </a:stretch>
            </a:blipFill>
          </p:spPr>
        </p:sp>
      </p:grpSp>
      <p:sp>
        <p:nvSpPr>
          <p:cNvPr id="15" name="TextBox 15"/>
          <p:cNvSpPr txBox="1"/>
          <p:nvPr/>
        </p:nvSpPr>
        <p:spPr>
          <a:xfrm>
            <a:off x="9929664" y="2764631"/>
            <a:ext cx="285601" cy="461814"/>
          </a:xfrm>
          <a:prstGeom prst="rect">
            <a:avLst/>
          </a:prstGeom>
        </p:spPr>
        <p:txBody>
          <a:bodyPr lIns="0" tIns="0" rIns="0" bIns="0" rtlCol="0" anchor="t">
            <a:spAutoFit/>
          </a:bodyPr>
          <a:lstStyle/>
          <a:p>
            <a:pPr algn="l">
              <a:lnSpc>
                <a:spcPts val="3562"/>
              </a:lnSpc>
            </a:pPr>
            <a:r>
              <a:rPr lang="en-US" sz="2187" b="1">
                <a:solidFill>
                  <a:srgbClr val="000000"/>
                </a:solidFill>
                <a:latin typeface="Arimo Bold"/>
                <a:ea typeface="Arimo Bold"/>
                <a:cs typeface="Arimo Bold"/>
                <a:sym typeface="Arimo Bold"/>
              </a:rPr>
              <a:t>1</a:t>
            </a:r>
          </a:p>
        </p:txBody>
      </p:sp>
      <p:sp>
        <p:nvSpPr>
          <p:cNvPr id="16" name="TextBox 16"/>
          <p:cNvSpPr txBox="1"/>
          <p:nvPr/>
        </p:nvSpPr>
        <p:spPr>
          <a:xfrm>
            <a:off x="7993695" y="3356693"/>
            <a:ext cx="3122414" cy="400348"/>
          </a:xfrm>
          <a:prstGeom prst="rect">
            <a:avLst/>
          </a:prstGeom>
        </p:spPr>
        <p:txBody>
          <a:bodyPr lIns="0" tIns="0" rIns="0" bIns="0" rtlCol="0" anchor="t">
            <a:spAutoFit/>
          </a:bodyPr>
          <a:lstStyle/>
          <a:p>
            <a:pPr algn="l">
              <a:lnSpc>
                <a:spcPts val="2875"/>
              </a:lnSpc>
            </a:pPr>
            <a:r>
              <a:rPr lang="en-US" sz="2312" b="1" dirty="0">
                <a:solidFill>
                  <a:srgbClr val="DAD1E6"/>
                </a:solidFill>
                <a:latin typeface="Arimo Bold"/>
                <a:ea typeface="Arimo Bold"/>
                <a:cs typeface="Arimo Bold"/>
                <a:sym typeface="Arimo Bold"/>
              </a:rPr>
              <a:t>Independent Structure</a:t>
            </a:r>
          </a:p>
        </p:txBody>
      </p:sp>
      <p:sp>
        <p:nvSpPr>
          <p:cNvPr id="17" name="TextBox 17"/>
          <p:cNvSpPr txBox="1"/>
          <p:nvPr/>
        </p:nvSpPr>
        <p:spPr>
          <a:xfrm>
            <a:off x="7957691" y="4071789"/>
            <a:ext cx="4229695" cy="1989236"/>
          </a:xfrm>
          <a:prstGeom prst="rect">
            <a:avLst/>
          </a:prstGeom>
        </p:spPr>
        <p:txBody>
          <a:bodyPr lIns="0" tIns="0" rIns="0" bIns="0" rtlCol="0" anchor="t">
            <a:spAutoFit/>
          </a:bodyPr>
          <a:lstStyle/>
          <a:p>
            <a:pPr algn="l">
              <a:lnSpc>
                <a:spcPts val="2937"/>
              </a:lnSpc>
            </a:pPr>
            <a:r>
              <a:rPr lang="en-US" sz="1812" dirty="0">
                <a:solidFill>
                  <a:srgbClr val="DAD1E6"/>
                </a:solidFill>
                <a:latin typeface="Fira Sans"/>
                <a:ea typeface="Fira Sans"/>
                <a:cs typeface="Fira Sans"/>
                <a:sym typeface="Fira Sans"/>
              </a:rPr>
              <a:t>Unlike clustering indexes, a non-clustered index </a:t>
            </a:r>
            <a:r>
              <a:rPr lang="en-US" sz="1812" b="1" dirty="0">
                <a:solidFill>
                  <a:srgbClr val="DAD1E6"/>
                </a:solidFill>
                <a:latin typeface="Fira Sans Bold"/>
                <a:ea typeface="Fira Sans Bold"/>
                <a:cs typeface="Fira Sans Bold"/>
                <a:sym typeface="Fira Sans Bold"/>
              </a:rPr>
              <a:t>does not alter the physical order</a:t>
            </a:r>
            <a:r>
              <a:rPr lang="en-US" sz="1812" dirty="0">
                <a:solidFill>
                  <a:srgbClr val="DAD1E6"/>
                </a:solidFill>
                <a:latin typeface="Fira Sans"/>
                <a:ea typeface="Fira Sans"/>
                <a:cs typeface="Fira Sans"/>
                <a:sym typeface="Fira Sans"/>
              </a:rPr>
              <a:t> of the data records on disk. Instead, it maintains a completely separate structure.</a:t>
            </a:r>
          </a:p>
        </p:txBody>
      </p:sp>
      <p:grpSp>
        <p:nvGrpSpPr>
          <p:cNvPr id="18" name="Group 18"/>
          <p:cNvGrpSpPr/>
          <p:nvPr/>
        </p:nvGrpSpPr>
        <p:grpSpPr>
          <a:xfrm>
            <a:off x="12691914" y="3048000"/>
            <a:ext cx="4762946" cy="3279576"/>
            <a:chOff x="0" y="0"/>
            <a:chExt cx="6350595" cy="4372768"/>
          </a:xfrm>
        </p:grpSpPr>
        <p:sp>
          <p:nvSpPr>
            <p:cNvPr id="19" name="Freeform 19"/>
            <p:cNvSpPr/>
            <p:nvPr/>
          </p:nvSpPr>
          <p:spPr>
            <a:xfrm>
              <a:off x="0" y="0"/>
              <a:ext cx="6350635" cy="4372737"/>
            </a:xfrm>
            <a:custGeom>
              <a:avLst/>
              <a:gdLst/>
              <a:ahLst/>
              <a:cxnLst/>
              <a:rect l="l" t="t" r="r" b="b"/>
              <a:pathLst>
                <a:path w="6350635" h="4372737">
                  <a:moveTo>
                    <a:pt x="0" y="182880"/>
                  </a:moveTo>
                  <a:cubicBezTo>
                    <a:pt x="0" y="81915"/>
                    <a:pt x="81915" y="0"/>
                    <a:pt x="182880" y="0"/>
                  </a:cubicBezTo>
                  <a:lnTo>
                    <a:pt x="6167755" y="0"/>
                  </a:lnTo>
                  <a:cubicBezTo>
                    <a:pt x="6268720" y="0"/>
                    <a:pt x="6350635" y="81915"/>
                    <a:pt x="6350635" y="182880"/>
                  </a:cubicBezTo>
                  <a:lnTo>
                    <a:pt x="6350635" y="4189857"/>
                  </a:lnTo>
                  <a:cubicBezTo>
                    <a:pt x="6350635" y="4290822"/>
                    <a:pt x="6268720" y="4372737"/>
                    <a:pt x="6167755" y="4372737"/>
                  </a:cubicBezTo>
                  <a:lnTo>
                    <a:pt x="182880" y="4372737"/>
                  </a:lnTo>
                  <a:cubicBezTo>
                    <a:pt x="81915" y="4372737"/>
                    <a:pt x="0" y="4290822"/>
                    <a:pt x="0" y="4189857"/>
                  </a:cubicBezTo>
                  <a:close/>
                </a:path>
              </a:pathLst>
            </a:custGeom>
            <a:solidFill>
              <a:srgbClr val="241631"/>
            </a:solidFill>
            <a:ln w="12700">
              <a:solidFill>
                <a:srgbClr val="000000"/>
              </a:solidFill>
            </a:ln>
          </p:spPr>
        </p:sp>
      </p:grpSp>
      <p:grpSp>
        <p:nvGrpSpPr>
          <p:cNvPr id="20" name="Group 20"/>
          <p:cNvGrpSpPr>
            <a:grpSpLocks noChangeAspect="1"/>
          </p:cNvGrpSpPr>
          <p:nvPr/>
        </p:nvGrpSpPr>
        <p:grpSpPr>
          <a:xfrm>
            <a:off x="12691914" y="3019425"/>
            <a:ext cx="4762946" cy="114300"/>
            <a:chOff x="0" y="0"/>
            <a:chExt cx="6350595" cy="152400"/>
          </a:xfrm>
        </p:grpSpPr>
        <p:sp>
          <p:nvSpPr>
            <p:cNvPr id="21" name="Freeform 21" descr="preencoded.png"/>
            <p:cNvSpPr/>
            <p:nvPr/>
          </p:nvSpPr>
          <p:spPr>
            <a:xfrm>
              <a:off x="0" y="0"/>
              <a:ext cx="6350635" cy="152400"/>
            </a:xfrm>
            <a:custGeom>
              <a:avLst/>
              <a:gdLst/>
              <a:ahLst/>
              <a:cxnLst/>
              <a:rect l="l" t="t" r="r" b="b"/>
              <a:pathLst>
                <a:path w="6350635" h="152400">
                  <a:moveTo>
                    <a:pt x="0" y="0"/>
                  </a:moveTo>
                  <a:lnTo>
                    <a:pt x="6350635" y="0"/>
                  </a:lnTo>
                  <a:lnTo>
                    <a:pt x="6350635" y="152400"/>
                  </a:lnTo>
                  <a:lnTo>
                    <a:pt x="0" y="152400"/>
                  </a:lnTo>
                  <a:lnTo>
                    <a:pt x="0" y="0"/>
                  </a:lnTo>
                  <a:close/>
                </a:path>
              </a:pathLst>
            </a:custGeom>
            <a:blipFill>
              <a:blip r:embed="rId4"/>
              <a:stretch>
                <a:fillRect t="-4" b="-4"/>
              </a:stretch>
            </a:blipFill>
          </p:spPr>
        </p:sp>
      </p:grpSp>
      <p:grpSp>
        <p:nvGrpSpPr>
          <p:cNvPr id="22" name="Group 22"/>
          <p:cNvGrpSpPr>
            <a:grpSpLocks noChangeAspect="1"/>
          </p:cNvGrpSpPr>
          <p:nvPr/>
        </p:nvGrpSpPr>
        <p:grpSpPr>
          <a:xfrm>
            <a:off x="14716274" y="2690961"/>
            <a:ext cx="714077" cy="714078"/>
            <a:chOff x="0" y="0"/>
            <a:chExt cx="952103" cy="952103"/>
          </a:xfrm>
        </p:grpSpPr>
        <p:sp>
          <p:nvSpPr>
            <p:cNvPr id="23" name="Freeform 23" descr="preencoded.png"/>
            <p:cNvSpPr/>
            <p:nvPr/>
          </p:nvSpPr>
          <p:spPr>
            <a:xfrm>
              <a:off x="0" y="0"/>
              <a:ext cx="952119" cy="952119"/>
            </a:xfrm>
            <a:custGeom>
              <a:avLst/>
              <a:gdLst/>
              <a:ahLst/>
              <a:cxnLst/>
              <a:rect l="l" t="t" r="r" b="b"/>
              <a:pathLst>
                <a:path w="952119" h="952119">
                  <a:moveTo>
                    <a:pt x="0" y="0"/>
                  </a:moveTo>
                  <a:lnTo>
                    <a:pt x="952119" y="0"/>
                  </a:lnTo>
                  <a:lnTo>
                    <a:pt x="952119" y="952119"/>
                  </a:lnTo>
                  <a:lnTo>
                    <a:pt x="0" y="952119"/>
                  </a:lnTo>
                  <a:lnTo>
                    <a:pt x="0" y="0"/>
                  </a:lnTo>
                  <a:close/>
                </a:path>
              </a:pathLst>
            </a:custGeom>
            <a:blipFill>
              <a:blip r:embed="rId5"/>
              <a:stretch>
                <a:fillRect r="1" b="1"/>
              </a:stretch>
            </a:blipFill>
          </p:spPr>
        </p:sp>
      </p:grpSp>
      <p:sp>
        <p:nvSpPr>
          <p:cNvPr id="24" name="TextBox 24"/>
          <p:cNvSpPr txBox="1"/>
          <p:nvPr/>
        </p:nvSpPr>
        <p:spPr>
          <a:xfrm>
            <a:off x="14930437" y="2764631"/>
            <a:ext cx="285601" cy="461814"/>
          </a:xfrm>
          <a:prstGeom prst="rect">
            <a:avLst/>
          </a:prstGeom>
        </p:spPr>
        <p:txBody>
          <a:bodyPr lIns="0" tIns="0" rIns="0" bIns="0" rtlCol="0" anchor="t">
            <a:spAutoFit/>
          </a:bodyPr>
          <a:lstStyle/>
          <a:p>
            <a:pPr algn="l">
              <a:lnSpc>
                <a:spcPts val="3562"/>
              </a:lnSpc>
            </a:pPr>
            <a:r>
              <a:rPr lang="en-US" sz="2187" b="1">
                <a:solidFill>
                  <a:srgbClr val="000000"/>
                </a:solidFill>
                <a:latin typeface="Arimo Bold"/>
                <a:ea typeface="Arimo Bold"/>
                <a:cs typeface="Arimo Bold"/>
                <a:sym typeface="Arimo Bold"/>
              </a:rPr>
              <a:t>2</a:t>
            </a:r>
          </a:p>
        </p:txBody>
      </p:sp>
      <p:sp>
        <p:nvSpPr>
          <p:cNvPr id="25" name="TextBox 25"/>
          <p:cNvSpPr txBox="1"/>
          <p:nvPr/>
        </p:nvSpPr>
        <p:spPr>
          <a:xfrm>
            <a:off x="12958465" y="3614440"/>
            <a:ext cx="2975372" cy="400348"/>
          </a:xfrm>
          <a:prstGeom prst="rect">
            <a:avLst/>
          </a:prstGeom>
        </p:spPr>
        <p:txBody>
          <a:bodyPr lIns="0" tIns="0" rIns="0" bIns="0" rtlCol="0" anchor="t">
            <a:spAutoFit/>
          </a:bodyPr>
          <a:lstStyle/>
          <a:p>
            <a:pPr algn="l">
              <a:lnSpc>
                <a:spcPts val="2875"/>
              </a:lnSpc>
            </a:pPr>
            <a:r>
              <a:rPr lang="en-US" sz="2312" b="1">
                <a:solidFill>
                  <a:srgbClr val="DAD1E6"/>
                </a:solidFill>
                <a:latin typeface="Arimo Bold"/>
                <a:ea typeface="Arimo Bold"/>
                <a:cs typeface="Arimo Bold"/>
                <a:sym typeface="Arimo Bold"/>
              </a:rPr>
              <a:t>Pointers to Data</a:t>
            </a:r>
          </a:p>
        </p:txBody>
      </p:sp>
      <p:sp>
        <p:nvSpPr>
          <p:cNvPr id="26" name="TextBox 26"/>
          <p:cNvSpPr txBox="1"/>
          <p:nvPr/>
        </p:nvSpPr>
        <p:spPr>
          <a:xfrm>
            <a:off x="12958465" y="4071789"/>
            <a:ext cx="4229844" cy="1989236"/>
          </a:xfrm>
          <a:prstGeom prst="rect">
            <a:avLst/>
          </a:prstGeom>
        </p:spPr>
        <p:txBody>
          <a:bodyPr lIns="0" tIns="0" rIns="0" bIns="0" rtlCol="0" anchor="t">
            <a:spAutoFit/>
          </a:bodyPr>
          <a:lstStyle/>
          <a:p>
            <a:pPr algn="l">
              <a:lnSpc>
                <a:spcPts val="2937"/>
              </a:lnSpc>
            </a:pPr>
            <a:r>
              <a:rPr lang="en-US" sz="1812" dirty="0">
                <a:solidFill>
                  <a:srgbClr val="DAD1E6"/>
                </a:solidFill>
                <a:latin typeface="Fira Sans"/>
                <a:ea typeface="Fira Sans"/>
                <a:cs typeface="Fira Sans"/>
                <a:sym typeface="Fira Sans"/>
              </a:rPr>
              <a:t>This separate index structure stores the indexed values along with pointers (or references) that indicate the exact physical location of the corresponding data records within the main table.</a:t>
            </a:r>
          </a:p>
        </p:txBody>
      </p:sp>
      <p:grpSp>
        <p:nvGrpSpPr>
          <p:cNvPr id="27" name="Group 27"/>
          <p:cNvGrpSpPr/>
          <p:nvPr/>
        </p:nvGrpSpPr>
        <p:grpSpPr>
          <a:xfrm>
            <a:off x="7691140" y="6922591"/>
            <a:ext cx="9763720" cy="2518172"/>
            <a:chOff x="0" y="0"/>
            <a:chExt cx="13018293" cy="3357563"/>
          </a:xfrm>
        </p:grpSpPr>
        <p:sp>
          <p:nvSpPr>
            <p:cNvPr id="28" name="Freeform 28"/>
            <p:cNvSpPr/>
            <p:nvPr/>
          </p:nvSpPr>
          <p:spPr>
            <a:xfrm>
              <a:off x="0" y="0"/>
              <a:ext cx="13018263" cy="3357499"/>
            </a:xfrm>
            <a:custGeom>
              <a:avLst/>
              <a:gdLst/>
              <a:ahLst/>
              <a:cxnLst/>
              <a:rect l="l" t="t" r="r" b="b"/>
              <a:pathLst>
                <a:path w="13018263" h="3357499">
                  <a:moveTo>
                    <a:pt x="0" y="182880"/>
                  </a:moveTo>
                  <a:cubicBezTo>
                    <a:pt x="0" y="81915"/>
                    <a:pt x="81915" y="0"/>
                    <a:pt x="182880" y="0"/>
                  </a:cubicBezTo>
                  <a:lnTo>
                    <a:pt x="12835382" y="0"/>
                  </a:lnTo>
                  <a:cubicBezTo>
                    <a:pt x="12936347" y="0"/>
                    <a:pt x="13018263" y="81915"/>
                    <a:pt x="13018263" y="182880"/>
                  </a:cubicBezTo>
                  <a:lnTo>
                    <a:pt x="13018263" y="3174619"/>
                  </a:lnTo>
                  <a:cubicBezTo>
                    <a:pt x="13018263" y="3275584"/>
                    <a:pt x="12936347" y="3357499"/>
                    <a:pt x="12835382" y="3357499"/>
                  </a:cubicBezTo>
                  <a:lnTo>
                    <a:pt x="182880" y="3357499"/>
                  </a:lnTo>
                  <a:cubicBezTo>
                    <a:pt x="81915" y="3357499"/>
                    <a:pt x="0" y="3275584"/>
                    <a:pt x="0" y="3174619"/>
                  </a:cubicBezTo>
                  <a:close/>
                </a:path>
              </a:pathLst>
            </a:custGeom>
            <a:solidFill>
              <a:srgbClr val="241631"/>
            </a:solidFill>
            <a:ln w="12700">
              <a:solidFill>
                <a:srgbClr val="000000"/>
              </a:solidFill>
            </a:ln>
          </p:spPr>
        </p:sp>
      </p:grpSp>
      <p:grpSp>
        <p:nvGrpSpPr>
          <p:cNvPr id="29" name="Group 29"/>
          <p:cNvGrpSpPr>
            <a:grpSpLocks noChangeAspect="1"/>
          </p:cNvGrpSpPr>
          <p:nvPr/>
        </p:nvGrpSpPr>
        <p:grpSpPr>
          <a:xfrm>
            <a:off x="7691140" y="6894016"/>
            <a:ext cx="9763720" cy="114300"/>
            <a:chOff x="0" y="0"/>
            <a:chExt cx="13018293" cy="152400"/>
          </a:xfrm>
        </p:grpSpPr>
        <p:sp>
          <p:nvSpPr>
            <p:cNvPr id="30" name="Freeform 30" descr="preencoded.png"/>
            <p:cNvSpPr/>
            <p:nvPr/>
          </p:nvSpPr>
          <p:spPr>
            <a:xfrm>
              <a:off x="0" y="0"/>
              <a:ext cx="13018263" cy="152400"/>
            </a:xfrm>
            <a:custGeom>
              <a:avLst/>
              <a:gdLst/>
              <a:ahLst/>
              <a:cxnLst/>
              <a:rect l="l" t="t" r="r" b="b"/>
              <a:pathLst>
                <a:path w="13018263" h="152400">
                  <a:moveTo>
                    <a:pt x="0" y="0"/>
                  </a:moveTo>
                  <a:lnTo>
                    <a:pt x="13018263" y="0"/>
                  </a:lnTo>
                  <a:lnTo>
                    <a:pt x="13018263" y="152400"/>
                  </a:lnTo>
                  <a:lnTo>
                    <a:pt x="0" y="152400"/>
                  </a:lnTo>
                  <a:lnTo>
                    <a:pt x="0" y="0"/>
                  </a:lnTo>
                  <a:close/>
                </a:path>
              </a:pathLst>
            </a:custGeom>
            <a:blipFill>
              <a:blip r:embed="rId6"/>
              <a:stretch>
                <a:fillRect t="-3" b="-3"/>
              </a:stretch>
            </a:blipFill>
          </p:spPr>
        </p:sp>
      </p:grpSp>
      <p:grpSp>
        <p:nvGrpSpPr>
          <p:cNvPr id="31" name="Group 31"/>
          <p:cNvGrpSpPr>
            <a:grpSpLocks noChangeAspect="1"/>
          </p:cNvGrpSpPr>
          <p:nvPr/>
        </p:nvGrpSpPr>
        <p:grpSpPr>
          <a:xfrm>
            <a:off x="12215961" y="6565552"/>
            <a:ext cx="714077" cy="714078"/>
            <a:chOff x="0" y="0"/>
            <a:chExt cx="952103" cy="952103"/>
          </a:xfrm>
        </p:grpSpPr>
        <p:sp>
          <p:nvSpPr>
            <p:cNvPr id="32" name="Freeform 32" descr="preencoded.png"/>
            <p:cNvSpPr/>
            <p:nvPr/>
          </p:nvSpPr>
          <p:spPr>
            <a:xfrm>
              <a:off x="0" y="0"/>
              <a:ext cx="952119" cy="952119"/>
            </a:xfrm>
            <a:custGeom>
              <a:avLst/>
              <a:gdLst/>
              <a:ahLst/>
              <a:cxnLst/>
              <a:rect l="l" t="t" r="r" b="b"/>
              <a:pathLst>
                <a:path w="952119" h="952119">
                  <a:moveTo>
                    <a:pt x="0" y="0"/>
                  </a:moveTo>
                  <a:lnTo>
                    <a:pt x="952119" y="0"/>
                  </a:lnTo>
                  <a:lnTo>
                    <a:pt x="952119" y="952119"/>
                  </a:lnTo>
                  <a:lnTo>
                    <a:pt x="0" y="952119"/>
                  </a:lnTo>
                  <a:lnTo>
                    <a:pt x="0" y="0"/>
                  </a:lnTo>
                  <a:close/>
                </a:path>
              </a:pathLst>
            </a:custGeom>
            <a:blipFill>
              <a:blip r:embed="rId5"/>
              <a:stretch>
                <a:fillRect r="1" b="1"/>
              </a:stretch>
            </a:blipFill>
          </p:spPr>
        </p:sp>
      </p:grpSp>
      <p:sp>
        <p:nvSpPr>
          <p:cNvPr id="33" name="TextBox 33"/>
          <p:cNvSpPr txBox="1"/>
          <p:nvPr/>
        </p:nvSpPr>
        <p:spPr>
          <a:xfrm>
            <a:off x="12430125" y="6639222"/>
            <a:ext cx="285601" cy="461814"/>
          </a:xfrm>
          <a:prstGeom prst="rect">
            <a:avLst/>
          </a:prstGeom>
        </p:spPr>
        <p:txBody>
          <a:bodyPr lIns="0" tIns="0" rIns="0" bIns="0" rtlCol="0" anchor="t">
            <a:spAutoFit/>
          </a:bodyPr>
          <a:lstStyle/>
          <a:p>
            <a:pPr algn="l">
              <a:lnSpc>
                <a:spcPts val="3562"/>
              </a:lnSpc>
            </a:pPr>
            <a:r>
              <a:rPr lang="en-US" sz="2187" b="1">
                <a:solidFill>
                  <a:srgbClr val="000000"/>
                </a:solidFill>
                <a:latin typeface="Arimo Bold"/>
                <a:ea typeface="Arimo Bold"/>
                <a:cs typeface="Arimo Bold"/>
                <a:sym typeface="Arimo Bold"/>
              </a:rPr>
              <a:t>3</a:t>
            </a:r>
          </a:p>
        </p:txBody>
      </p:sp>
      <p:sp>
        <p:nvSpPr>
          <p:cNvPr id="34" name="TextBox 34"/>
          <p:cNvSpPr txBox="1"/>
          <p:nvPr/>
        </p:nvSpPr>
        <p:spPr>
          <a:xfrm>
            <a:off x="7957691" y="7489031"/>
            <a:ext cx="2975372" cy="400347"/>
          </a:xfrm>
          <a:prstGeom prst="rect">
            <a:avLst/>
          </a:prstGeom>
        </p:spPr>
        <p:txBody>
          <a:bodyPr lIns="0" tIns="0" rIns="0" bIns="0" rtlCol="0" anchor="t">
            <a:spAutoFit/>
          </a:bodyPr>
          <a:lstStyle/>
          <a:p>
            <a:pPr algn="l">
              <a:lnSpc>
                <a:spcPts val="2875"/>
              </a:lnSpc>
            </a:pPr>
            <a:r>
              <a:rPr lang="en-US" sz="2312" b="1">
                <a:solidFill>
                  <a:srgbClr val="DAD1E6"/>
                </a:solidFill>
                <a:latin typeface="Arimo Bold"/>
                <a:ea typeface="Arimo Bold"/>
                <a:cs typeface="Arimo Bold"/>
                <a:sym typeface="Arimo Bold"/>
              </a:rPr>
              <a:t>Multiple Indexes</a:t>
            </a:r>
          </a:p>
        </p:txBody>
      </p:sp>
      <p:sp>
        <p:nvSpPr>
          <p:cNvPr id="35" name="TextBox 35"/>
          <p:cNvSpPr txBox="1"/>
          <p:nvPr/>
        </p:nvSpPr>
        <p:spPr>
          <a:xfrm>
            <a:off x="7957691" y="7946380"/>
            <a:ext cx="9230617" cy="1227833"/>
          </a:xfrm>
          <a:prstGeom prst="rect">
            <a:avLst/>
          </a:prstGeom>
        </p:spPr>
        <p:txBody>
          <a:bodyPr lIns="0" tIns="0" rIns="0" bIns="0" rtlCol="0" anchor="t">
            <a:spAutoFit/>
          </a:bodyPr>
          <a:lstStyle/>
          <a:p>
            <a:pPr algn="l">
              <a:lnSpc>
                <a:spcPts val="2937"/>
              </a:lnSpc>
            </a:pPr>
            <a:r>
              <a:rPr lang="en-US" sz="1812">
                <a:solidFill>
                  <a:srgbClr val="DAD1E6"/>
                </a:solidFill>
                <a:latin typeface="Fira Sans"/>
                <a:ea typeface="Fira Sans"/>
                <a:cs typeface="Fira Sans"/>
                <a:sym typeface="Fira Sans"/>
              </a:rPr>
              <a:t>Because non-clustered indexes are independent of the data's physical order, a table can have </a:t>
            </a:r>
            <a:r>
              <a:rPr lang="en-US" sz="1812">
                <a:solidFill>
                  <a:srgbClr val="F94CAF"/>
                </a:solidFill>
                <a:latin typeface="Fira Sans"/>
                <a:ea typeface="Fira Sans"/>
                <a:cs typeface="Fira Sans"/>
                <a:sym typeface="Fira Sans"/>
              </a:rPr>
              <a:t>multiple non-clustered indexes</a:t>
            </a:r>
            <a:r>
              <a:rPr lang="en-US" sz="1812">
                <a:solidFill>
                  <a:srgbClr val="DAD1E6"/>
                </a:solidFill>
                <a:latin typeface="Fira Sans"/>
                <a:ea typeface="Fira Sans"/>
                <a:cs typeface="Fira Sans"/>
                <a:sym typeface="Fira Sans"/>
              </a:rPr>
              <a:t>. This provides immense flexibility for optimizing various search queries.</a:t>
            </a:r>
          </a:p>
        </p:txBody>
      </p:sp>
      <p:sp>
        <p:nvSpPr>
          <p:cNvPr id="39" name="Date Placeholder 38">
            <a:extLst>
              <a:ext uri="{FF2B5EF4-FFF2-40B4-BE49-F238E27FC236}">
                <a16:creationId xmlns:a16="http://schemas.microsoft.com/office/drawing/2014/main" id="{6335D13B-39FD-39BA-487B-27028A298D59}"/>
              </a:ext>
            </a:extLst>
          </p:cNvPr>
          <p:cNvSpPr>
            <a:spLocks noGrp="1"/>
          </p:cNvSpPr>
          <p:nvPr>
            <p:ph type="dt" sz="half" idx="10"/>
          </p:nvPr>
        </p:nvSpPr>
        <p:spPr>
          <a:xfrm>
            <a:off x="16640449" y="9380218"/>
            <a:ext cx="2133600" cy="365125"/>
          </a:xfrm>
        </p:spPr>
        <p:txBody>
          <a:bodyPr/>
          <a:lstStyle/>
          <a:p>
            <a:fld id="{6F90C95C-8DCA-4879-BE03-9B2580E64395}" type="datetime1">
              <a:rPr lang="en-US" smtClean="0"/>
              <a:t>12/10/2025</a:t>
            </a:fld>
            <a:endParaRPr lang="en-US" dirty="0"/>
          </a:p>
        </p:txBody>
      </p:sp>
      <p:sp>
        <p:nvSpPr>
          <p:cNvPr id="40" name="Slide Number Placeholder 39">
            <a:extLst>
              <a:ext uri="{FF2B5EF4-FFF2-40B4-BE49-F238E27FC236}">
                <a16:creationId xmlns:a16="http://schemas.microsoft.com/office/drawing/2014/main" id="{D568AC4A-5369-E714-B407-A3FE81FF187C}"/>
              </a:ext>
            </a:extLst>
          </p:cNvPr>
          <p:cNvSpPr>
            <a:spLocks noGrp="1"/>
          </p:cNvSpPr>
          <p:nvPr>
            <p:ph type="sldNum" sz="quarter" idx="12"/>
          </p:nvPr>
        </p:nvSpPr>
        <p:spPr>
          <a:xfrm>
            <a:off x="15697200" y="9742328"/>
            <a:ext cx="2133600" cy="365125"/>
          </a:xfrm>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id="4" name="Group 4"/>
          <p:cNvGrpSpPr/>
          <p:nvPr/>
        </p:nvGrpSpPr>
        <p:grpSpPr>
          <a:xfrm>
            <a:off x="76200" y="11430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id="6" name="TextBox 6"/>
          <p:cNvSpPr txBox="1"/>
          <p:nvPr/>
        </p:nvSpPr>
        <p:spPr>
          <a:xfrm>
            <a:off x="992238" y="1058615"/>
            <a:ext cx="10985152" cy="943124"/>
          </a:xfrm>
          <a:prstGeom prst="rect">
            <a:avLst/>
          </a:prstGeom>
        </p:spPr>
        <p:txBody>
          <a:bodyPr lIns="0" tIns="0" rIns="0" bIns="0" rtlCol="0" anchor="t">
            <a:spAutoFit/>
          </a:bodyPr>
          <a:lstStyle/>
          <a:p>
            <a:pPr algn="l">
              <a:lnSpc>
                <a:spcPts val="6937"/>
              </a:lnSpc>
            </a:pPr>
            <a:r>
              <a:rPr lang="en-US" sz="5562" b="1">
                <a:solidFill>
                  <a:srgbClr val="F94CAF"/>
                </a:solidFill>
                <a:latin typeface="Arimo Bold"/>
                <a:ea typeface="Arimo Bold"/>
                <a:cs typeface="Arimo Bold"/>
                <a:sym typeface="Arimo Bold"/>
              </a:rPr>
              <a:t>Dense Index: Pinpoint Precision</a:t>
            </a:r>
          </a:p>
        </p:txBody>
      </p:sp>
      <p:sp>
        <p:nvSpPr>
          <p:cNvPr id="7" name="TextBox 7"/>
          <p:cNvSpPr txBox="1"/>
          <p:nvPr/>
        </p:nvSpPr>
        <p:spPr>
          <a:xfrm>
            <a:off x="992238" y="2586781"/>
            <a:ext cx="9505355" cy="1805559"/>
          </a:xfrm>
          <a:prstGeom prst="rect">
            <a:avLst/>
          </a:prstGeom>
        </p:spPr>
        <p:txBody>
          <a:bodyPr lIns="0" tIns="0" rIns="0" bIns="0" rtlCol="0" anchor="t">
            <a:spAutoFit/>
          </a:bodyPr>
          <a:lstStyle/>
          <a:p>
            <a:pPr algn="l">
              <a:lnSpc>
                <a:spcPts val="3562"/>
              </a:lnSpc>
            </a:pPr>
            <a:r>
              <a:rPr lang="en-US" sz="2187" dirty="0">
                <a:solidFill>
                  <a:srgbClr val="DAD1E6"/>
                </a:solidFill>
                <a:latin typeface="Fira Sans"/>
                <a:ea typeface="Fira Sans"/>
                <a:cs typeface="Fira Sans"/>
                <a:sym typeface="Fira Sans"/>
              </a:rPr>
              <a:t>A </a:t>
            </a:r>
            <a:r>
              <a:rPr lang="en-US" sz="2187" dirty="0">
                <a:solidFill>
                  <a:srgbClr val="F94CAF"/>
                </a:solidFill>
                <a:latin typeface="Fira Sans"/>
                <a:ea typeface="Fira Sans"/>
                <a:cs typeface="Fira Sans"/>
                <a:sym typeface="Fira Sans"/>
              </a:rPr>
              <a:t>dense index</a:t>
            </a:r>
            <a:r>
              <a:rPr lang="en-US" sz="2187" dirty="0">
                <a:solidFill>
                  <a:srgbClr val="DAD1E6"/>
                </a:solidFill>
                <a:latin typeface="Fira Sans"/>
                <a:ea typeface="Fira Sans"/>
                <a:cs typeface="Fira Sans"/>
                <a:sym typeface="Fira Sans"/>
              </a:rPr>
              <a:t> is characterized by having an index entry </a:t>
            </a:r>
            <a:r>
              <a:rPr lang="en-US" sz="2187" b="1" dirty="0">
                <a:solidFill>
                  <a:srgbClr val="DAD1E6"/>
                </a:solidFill>
                <a:latin typeface="Fira Sans"/>
                <a:ea typeface="Fira Sans"/>
                <a:cs typeface="Fira Sans"/>
                <a:sym typeface="Fira Sans"/>
              </a:rPr>
              <a:t>for </a:t>
            </a:r>
            <a:r>
              <a:rPr lang="en-US" sz="2187" b="1" dirty="0">
                <a:solidFill>
                  <a:srgbClr val="DAD1E6"/>
                </a:solidFill>
                <a:latin typeface="Fira Sans Bold"/>
                <a:ea typeface="Fira Sans Bold"/>
                <a:cs typeface="Fira Sans Bold"/>
                <a:sym typeface="Fira Sans Bold"/>
              </a:rPr>
              <a:t>every single record</a:t>
            </a:r>
            <a:r>
              <a:rPr lang="en-US" sz="2187" b="1" dirty="0">
                <a:solidFill>
                  <a:srgbClr val="DAD1E6"/>
                </a:solidFill>
                <a:latin typeface="Fira Sans"/>
                <a:ea typeface="Fira Sans"/>
                <a:cs typeface="Fira Sans"/>
                <a:sym typeface="Fira Sans"/>
              </a:rPr>
              <a:t> </a:t>
            </a:r>
            <a:r>
              <a:rPr lang="en-US" sz="2187" dirty="0">
                <a:solidFill>
                  <a:srgbClr val="DAD1E6"/>
                </a:solidFill>
                <a:latin typeface="Fira Sans"/>
                <a:ea typeface="Fira Sans"/>
                <a:cs typeface="Fira Sans"/>
                <a:sym typeface="Fira Sans"/>
              </a:rPr>
              <a:t>in the data file. This exhaustive coverage ensures that a search operation can directly locate the exact record required without any additional scanning.</a:t>
            </a:r>
          </a:p>
        </p:txBody>
      </p:sp>
      <p:sp>
        <p:nvSpPr>
          <p:cNvPr id="8" name="TextBox 8"/>
          <p:cNvSpPr txBox="1"/>
          <p:nvPr/>
        </p:nvSpPr>
        <p:spPr>
          <a:xfrm>
            <a:off x="992238" y="4656385"/>
            <a:ext cx="9505355" cy="2363391"/>
          </a:xfrm>
          <a:prstGeom prst="rect">
            <a:avLst/>
          </a:prstGeom>
        </p:spPr>
        <p:txBody>
          <a:bodyPr lIns="0" tIns="0" rIns="0" bIns="0" rtlCol="0" anchor="t">
            <a:spAutoFit/>
          </a:bodyPr>
          <a:lstStyle/>
          <a:p>
            <a:pPr algn="l">
              <a:lnSpc>
                <a:spcPts val="3562"/>
              </a:lnSpc>
            </a:pPr>
            <a:r>
              <a:rPr lang="en-US" sz="2187">
                <a:solidFill>
                  <a:srgbClr val="DAD1E6"/>
                </a:solidFill>
                <a:latin typeface="Fira Sans"/>
                <a:ea typeface="Fira Sans"/>
                <a:cs typeface="Fira Sans"/>
                <a:sym typeface="Fira Sans"/>
              </a:rPr>
              <a:t>The primary advantage of a dense index is its incredible speed for retrieval operations. However, this precision comes at a cost: dense indexes require a </a:t>
            </a:r>
            <a:r>
              <a:rPr lang="en-US" sz="2187" b="1">
                <a:solidFill>
                  <a:srgbClr val="DAD1E6"/>
                </a:solidFill>
                <a:latin typeface="Fira Sans Bold"/>
                <a:ea typeface="Fira Sans Bold"/>
                <a:cs typeface="Fira Sans Bold"/>
                <a:sym typeface="Fira Sans Bold"/>
              </a:rPr>
              <a:t>greater amount of storage space</a:t>
            </a:r>
            <a:r>
              <a:rPr lang="en-US" sz="2187">
                <a:solidFill>
                  <a:srgbClr val="DAD1E6"/>
                </a:solidFill>
                <a:latin typeface="Fira Sans"/>
                <a:ea typeface="Fira Sans"/>
                <a:cs typeface="Fira Sans"/>
                <a:sym typeface="Fira Sans"/>
              </a:rPr>
              <a:t> to accommodate all the individual entries, which is an important consideration for very large datasets.</a:t>
            </a:r>
          </a:p>
        </p:txBody>
      </p:sp>
      <p:grpSp>
        <p:nvGrpSpPr>
          <p:cNvPr id="9" name="Group 9"/>
          <p:cNvGrpSpPr>
            <a:grpSpLocks noChangeAspect="1"/>
          </p:cNvGrpSpPr>
          <p:nvPr/>
        </p:nvGrpSpPr>
        <p:grpSpPr>
          <a:xfrm>
            <a:off x="11198870" y="2745879"/>
            <a:ext cx="6106269" cy="6106269"/>
            <a:chOff x="0" y="0"/>
            <a:chExt cx="8141692" cy="8141692"/>
          </a:xfrm>
        </p:grpSpPr>
        <p:sp>
          <p:nvSpPr>
            <p:cNvPr id="10" name="Freeform 10" descr="preencoded.png"/>
            <p:cNvSpPr/>
            <p:nvPr/>
          </p:nvSpPr>
          <p:spPr>
            <a:xfrm>
              <a:off x="0" y="0"/>
              <a:ext cx="8141716" cy="8141716"/>
            </a:xfrm>
            <a:custGeom>
              <a:avLst/>
              <a:gdLst/>
              <a:ahLst/>
              <a:cxnLst/>
              <a:rect l="l" t="t" r="r" b="b"/>
              <a:pathLst>
                <a:path w="8141716" h="8141716">
                  <a:moveTo>
                    <a:pt x="0" y="0"/>
                  </a:moveTo>
                  <a:lnTo>
                    <a:pt x="8141716" y="0"/>
                  </a:lnTo>
                  <a:lnTo>
                    <a:pt x="8141716" y="8141716"/>
                  </a:lnTo>
                  <a:lnTo>
                    <a:pt x="0" y="8141716"/>
                  </a:lnTo>
                  <a:lnTo>
                    <a:pt x="0" y="0"/>
                  </a:lnTo>
                  <a:close/>
                </a:path>
              </a:pathLst>
            </a:custGeom>
            <a:blipFill>
              <a:blip r:embed="rId3"/>
              <a:stretch>
                <a:fillRect/>
              </a:stretch>
            </a:blipFill>
          </p:spPr>
        </p:sp>
      </p:grpSp>
      <p:sp>
        <p:nvSpPr>
          <p:cNvPr id="14" name="Date Placeholder 13">
            <a:extLst>
              <a:ext uri="{FF2B5EF4-FFF2-40B4-BE49-F238E27FC236}">
                <a16:creationId xmlns:a16="http://schemas.microsoft.com/office/drawing/2014/main" id="{C48B7754-CACA-9907-C133-9DCAB1ECFDA4}"/>
              </a:ext>
            </a:extLst>
          </p:cNvPr>
          <p:cNvSpPr>
            <a:spLocks noGrp="1"/>
          </p:cNvSpPr>
          <p:nvPr>
            <p:ph type="dt" sz="half" idx="10"/>
          </p:nvPr>
        </p:nvSpPr>
        <p:spPr>
          <a:xfrm>
            <a:off x="533400" y="9212510"/>
            <a:ext cx="2133600" cy="365125"/>
          </a:xfrm>
        </p:spPr>
        <p:txBody>
          <a:bodyPr/>
          <a:lstStyle/>
          <a:p>
            <a:fld id="{8F9E4BF1-B5AA-47A7-8DA5-342979072981}" type="datetime1">
              <a:rPr lang="en-US" smtClean="0"/>
              <a:t>12/10/2025</a:t>
            </a:fld>
            <a:endParaRPr lang="en-US" dirty="0"/>
          </a:p>
        </p:txBody>
      </p:sp>
      <p:sp>
        <p:nvSpPr>
          <p:cNvPr id="15" name="Slide Number Placeholder 14">
            <a:extLst>
              <a:ext uri="{FF2B5EF4-FFF2-40B4-BE49-F238E27FC236}">
                <a16:creationId xmlns:a16="http://schemas.microsoft.com/office/drawing/2014/main" id="{F1956600-7FEF-66F6-878A-5004CAFAFF3F}"/>
              </a:ext>
            </a:extLst>
          </p:cNvPr>
          <p:cNvSpPr>
            <a:spLocks noGrp="1"/>
          </p:cNvSpPr>
          <p:nvPr>
            <p:ph type="sldNum" sz="quarter" idx="12"/>
          </p:nvPr>
        </p:nvSpPr>
        <p:spPr>
          <a:xfrm>
            <a:off x="-884038" y="8868022"/>
            <a:ext cx="2133600" cy="365125"/>
          </a:xfrm>
        </p:spPr>
        <p:txBody>
          <a:bodyPr/>
          <a:lstStyle/>
          <a:p>
            <a:fld id="{B6F15528-21DE-4FAA-801E-634DDDAF4B2B}"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id="4" name="Group 4"/>
          <p:cNvGrpSpPr/>
          <p:nvPr/>
        </p:nvGrpSpPr>
        <p:grpSpPr>
          <a:xfrm>
            <a:off x="4762"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id="6" name="TextBox 6"/>
          <p:cNvSpPr txBox="1"/>
          <p:nvPr/>
        </p:nvSpPr>
        <p:spPr>
          <a:xfrm>
            <a:off x="902047" y="651570"/>
            <a:ext cx="14496306" cy="862608"/>
          </a:xfrm>
          <a:prstGeom prst="rect">
            <a:avLst/>
          </a:prstGeom>
        </p:spPr>
        <p:txBody>
          <a:bodyPr lIns="0" tIns="0" rIns="0" bIns="0" rtlCol="0" anchor="t">
            <a:spAutoFit/>
          </a:bodyPr>
          <a:lstStyle/>
          <a:p>
            <a:pPr algn="l">
              <a:lnSpc>
                <a:spcPts val="6312"/>
              </a:lnSpc>
            </a:pPr>
            <a:r>
              <a:rPr lang="en-US" sz="5062" b="1">
                <a:solidFill>
                  <a:srgbClr val="F94CAF"/>
                </a:solidFill>
                <a:latin typeface="Arimo Bold"/>
                <a:ea typeface="Arimo Bold"/>
                <a:cs typeface="Arimo Bold"/>
                <a:sym typeface="Arimo Bold"/>
              </a:rPr>
              <a:t>Sparse Index: Efficient Space, Balanced Speed</a:t>
            </a:r>
          </a:p>
        </p:txBody>
      </p:sp>
      <p:grpSp>
        <p:nvGrpSpPr>
          <p:cNvPr id="7" name="Group 7"/>
          <p:cNvGrpSpPr>
            <a:grpSpLocks noChangeAspect="1"/>
          </p:cNvGrpSpPr>
          <p:nvPr/>
        </p:nvGrpSpPr>
        <p:grpSpPr>
          <a:xfrm>
            <a:off x="892523" y="1946300"/>
            <a:ext cx="7927627" cy="7927628"/>
            <a:chOff x="0" y="0"/>
            <a:chExt cx="10570170" cy="10570170"/>
          </a:xfrm>
        </p:grpSpPr>
        <p:sp>
          <p:nvSpPr>
            <p:cNvPr id="8" name="Freeform 8" descr="preencoded.png"/>
            <p:cNvSpPr/>
            <p:nvPr/>
          </p:nvSpPr>
          <p:spPr>
            <a:xfrm>
              <a:off x="0" y="0"/>
              <a:ext cx="10570210" cy="10570210"/>
            </a:xfrm>
            <a:custGeom>
              <a:avLst/>
              <a:gdLst/>
              <a:ahLst/>
              <a:cxnLst/>
              <a:rect l="l" t="t" r="r" b="b"/>
              <a:pathLst>
                <a:path w="10570210" h="10570210">
                  <a:moveTo>
                    <a:pt x="0" y="0"/>
                  </a:moveTo>
                  <a:lnTo>
                    <a:pt x="10570210" y="0"/>
                  </a:lnTo>
                  <a:lnTo>
                    <a:pt x="10570210" y="10570210"/>
                  </a:lnTo>
                  <a:lnTo>
                    <a:pt x="0" y="10570210"/>
                  </a:lnTo>
                  <a:lnTo>
                    <a:pt x="0" y="0"/>
                  </a:lnTo>
                  <a:close/>
                </a:path>
              </a:pathLst>
            </a:custGeom>
            <a:blipFill>
              <a:blip r:embed="rId3"/>
              <a:stretch>
                <a:fillRect/>
              </a:stretch>
            </a:blipFill>
          </p:spPr>
        </p:sp>
      </p:grpSp>
      <p:sp>
        <p:nvSpPr>
          <p:cNvPr id="9" name="TextBox 9"/>
          <p:cNvSpPr txBox="1"/>
          <p:nvPr/>
        </p:nvSpPr>
        <p:spPr>
          <a:xfrm>
            <a:off x="9467850" y="2056359"/>
            <a:ext cx="7927627" cy="1313409"/>
          </a:xfrm>
          <a:prstGeom prst="rect">
            <a:avLst/>
          </a:prstGeom>
        </p:spPr>
        <p:txBody>
          <a:bodyPr lIns="0" tIns="0" rIns="0" bIns="0" rtlCol="0" anchor="t">
            <a:spAutoFit/>
          </a:bodyPr>
          <a:lstStyle/>
          <a:p>
            <a:pPr algn="l">
              <a:lnSpc>
                <a:spcPts val="3187"/>
              </a:lnSpc>
            </a:pPr>
            <a:r>
              <a:rPr lang="en-US" sz="2000">
                <a:solidFill>
                  <a:srgbClr val="DAD1E6"/>
                </a:solidFill>
                <a:latin typeface="Fira Sans"/>
                <a:ea typeface="Fira Sans"/>
                <a:cs typeface="Fira Sans"/>
                <a:sym typeface="Fira Sans"/>
              </a:rPr>
              <a:t>In contrast to a dense index, a </a:t>
            </a:r>
            <a:r>
              <a:rPr lang="en-US" sz="2000">
                <a:solidFill>
                  <a:srgbClr val="F94CAF"/>
                </a:solidFill>
                <a:latin typeface="Fira Sans"/>
                <a:ea typeface="Fira Sans"/>
                <a:cs typeface="Fira Sans"/>
                <a:sym typeface="Fira Sans"/>
              </a:rPr>
              <a:t>sparse index</a:t>
            </a:r>
            <a:r>
              <a:rPr lang="en-US" sz="2000">
                <a:solidFill>
                  <a:srgbClr val="DAD1E6"/>
                </a:solidFill>
                <a:latin typeface="Fira Sans"/>
                <a:ea typeface="Fira Sans"/>
                <a:cs typeface="Fira Sans"/>
                <a:sym typeface="Fira Sans"/>
              </a:rPr>
              <a:t> is designed for efficiency in storage. It only contains index entries for </a:t>
            </a:r>
            <a:r>
              <a:rPr lang="en-US" sz="2000" b="1">
                <a:solidFill>
                  <a:srgbClr val="DAD1E6"/>
                </a:solidFill>
                <a:latin typeface="Fira Sans Bold"/>
                <a:ea typeface="Fira Sans Bold"/>
                <a:cs typeface="Fira Sans Bold"/>
                <a:sym typeface="Fira Sans Bold"/>
              </a:rPr>
              <a:t>some of the records</a:t>
            </a:r>
            <a:r>
              <a:rPr lang="en-US" sz="2000">
                <a:solidFill>
                  <a:srgbClr val="DAD1E6"/>
                </a:solidFill>
                <a:latin typeface="Fira Sans"/>
                <a:ea typeface="Fira Sans"/>
                <a:cs typeface="Fira Sans"/>
                <a:sym typeface="Fira Sans"/>
              </a:rPr>
              <a:t>, typically pointing to the first record within each data block.</a:t>
            </a:r>
          </a:p>
        </p:txBody>
      </p:sp>
      <p:sp>
        <p:nvSpPr>
          <p:cNvPr id="10" name="TextBox 10"/>
          <p:cNvSpPr txBox="1"/>
          <p:nvPr/>
        </p:nvSpPr>
        <p:spPr>
          <a:xfrm>
            <a:off x="9467850" y="3525441"/>
            <a:ext cx="7927627" cy="2138214"/>
          </a:xfrm>
          <a:prstGeom prst="rect">
            <a:avLst/>
          </a:prstGeom>
        </p:spPr>
        <p:txBody>
          <a:bodyPr lIns="0" tIns="0" rIns="0" bIns="0" rtlCol="0" anchor="t">
            <a:spAutoFit/>
          </a:bodyPr>
          <a:lstStyle/>
          <a:p>
            <a:pPr algn="l">
              <a:lnSpc>
                <a:spcPts val="3187"/>
              </a:lnSpc>
            </a:pPr>
            <a:r>
              <a:rPr lang="en-US" sz="2000">
                <a:solidFill>
                  <a:srgbClr val="DAD1E6"/>
                </a:solidFill>
                <a:latin typeface="Fira Sans"/>
                <a:ea typeface="Fira Sans"/>
                <a:cs typeface="Fira Sans"/>
                <a:sym typeface="Fira Sans"/>
              </a:rPr>
              <a:t>While sparse indexes conserve valuable storage space, this efficiency can lead to </a:t>
            </a:r>
            <a:r>
              <a:rPr lang="en-US" sz="2000" b="1">
                <a:solidFill>
                  <a:srgbClr val="DAD1E6"/>
                </a:solidFill>
                <a:latin typeface="Fira Sans Bold"/>
                <a:ea typeface="Fira Sans Bold"/>
                <a:cs typeface="Fira Sans Bold"/>
                <a:sym typeface="Fira Sans Bold"/>
              </a:rPr>
              <a:t>slightly slower search times</a:t>
            </a:r>
            <a:r>
              <a:rPr lang="en-US" sz="2000">
                <a:solidFill>
                  <a:srgbClr val="DAD1E6"/>
                </a:solidFill>
                <a:latin typeface="Fira Sans"/>
                <a:ea typeface="Fira Sans"/>
                <a:cs typeface="Fira Sans"/>
                <a:sym typeface="Fira Sans"/>
              </a:rPr>
              <a:t> compared to dense indexes. Once the correct block is identified, the database might still need to perform a sequential scan within that specific block to find the exact record.</a:t>
            </a:r>
          </a:p>
        </p:txBody>
      </p:sp>
      <p:sp>
        <p:nvSpPr>
          <p:cNvPr id="14" name="Date Placeholder 13">
            <a:extLst>
              <a:ext uri="{FF2B5EF4-FFF2-40B4-BE49-F238E27FC236}">
                <a16:creationId xmlns:a16="http://schemas.microsoft.com/office/drawing/2014/main" id="{841B874F-66F0-47F9-BA8F-64C2FBE98BD0}"/>
              </a:ext>
            </a:extLst>
          </p:cNvPr>
          <p:cNvSpPr>
            <a:spLocks noGrp="1"/>
          </p:cNvSpPr>
          <p:nvPr>
            <p:ph type="dt" sz="half" idx="10"/>
          </p:nvPr>
        </p:nvSpPr>
        <p:spPr>
          <a:xfrm>
            <a:off x="15393590" y="9325867"/>
            <a:ext cx="2133600" cy="365125"/>
          </a:xfrm>
        </p:spPr>
        <p:txBody>
          <a:bodyPr/>
          <a:lstStyle/>
          <a:p>
            <a:fld id="{4392DDB9-53EF-4747-952E-23BF6AD4E6AF}" type="datetime1">
              <a:rPr lang="en-US" smtClean="0"/>
              <a:t>12/10/2025</a:t>
            </a:fld>
            <a:endParaRPr lang="en-US" dirty="0"/>
          </a:p>
        </p:txBody>
      </p:sp>
      <p:sp>
        <p:nvSpPr>
          <p:cNvPr id="15" name="Slide Number Placeholder 14">
            <a:extLst>
              <a:ext uri="{FF2B5EF4-FFF2-40B4-BE49-F238E27FC236}">
                <a16:creationId xmlns:a16="http://schemas.microsoft.com/office/drawing/2014/main" id="{F7A8A571-FAD0-D40A-025F-4C79CB7EA6B3}"/>
              </a:ext>
            </a:extLst>
          </p:cNvPr>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41631"/>
            </a:solidFill>
            <a:ln w="12700">
              <a:solidFill>
                <a:srgbClr val="000000"/>
              </a:solidFill>
            </a:ln>
          </p:spPr>
          <p:txBody>
            <a:bodyPr/>
            <a:lstStyle/>
            <a:p>
              <a:endParaRPr lang="en-US" dirty="0"/>
            </a:p>
          </p:txBody>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842219" y="688479"/>
            <a:ext cx="9745564" cy="1551385"/>
          </a:xfrm>
          <a:prstGeom prst="rect">
            <a:avLst/>
          </a:prstGeom>
        </p:spPr>
        <p:txBody>
          <a:bodyPr lIns="0" tIns="0" rIns="0" bIns="0" rtlCol="0" anchor="t">
            <a:spAutoFit/>
          </a:bodyPr>
          <a:lstStyle/>
          <a:p>
            <a:pPr algn="l">
              <a:lnSpc>
                <a:spcPts val="5874"/>
              </a:lnSpc>
            </a:pPr>
            <a:r>
              <a:rPr lang="en-US" sz="4687" b="1">
                <a:solidFill>
                  <a:srgbClr val="F94CAF"/>
                </a:solidFill>
                <a:latin typeface="Arimo Bold"/>
                <a:ea typeface="Arimo Bold"/>
                <a:cs typeface="Arimo Bold"/>
                <a:sym typeface="Arimo Bold"/>
              </a:rPr>
              <a:t>Multilevel Index: Scaling for Massive Data</a:t>
            </a:r>
          </a:p>
        </p:txBody>
      </p:sp>
      <p:grpSp>
        <p:nvGrpSpPr>
          <p:cNvPr id="11" name="Group 11"/>
          <p:cNvGrpSpPr/>
          <p:nvPr/>
        </p:nvGrpSpPr>
        <p:grpSpPr>
          <a:xfrm>
            <a:off x="842219" y="2600771"/>
            <a:ext cx="240506" cy="2156371"/>
            <a:chOff x="0" y="0"/>
            <a:chExt cx="320675" cy="2875162"/>
          </a:xfrm>
        </p:grpSpPr>
        <p:sp>
          <p:nvSpPr>
            <p:cNvPr id="12" name="Freeform 12"/>
            <p:cNvSpPr/>
            <p:nvPr/>
          </p:nvSpPr>
          <p:spPr>
            <a:xfrm>
              <a:off x="0" y="0"/>
              <a:ext cx="320675" cy="2875153"/>
            </a:xfrm>
            <a:custGeom>
              <a:avLst/>
              <a:gdLst/>
              <a:ahLst/>
              <a:cxnLst/>
              <a:rect l="l" t="t" r="r" b="b"/>
              <a:pathLst>
                <a:path w="320675" h="2875153">
                  <a:moveTo>
                    <a:pt x="0" y="48133"/>
                  </a:moveTo>
                  <a:cubicBezTo>
                    <a:pt x="0" y="21590"/>
                    <a:pt x="21590" y="0"/>
                    <a:pt x="48133" y="0"/>
                  </a:cubicBezTo>
                  <a:lnTo>
                    <a:pt x="272542" y="0"/>
                  </a:lnTo>
                  <a:cubicBezTo>
                    <a:pt x="299085" y="0"/>
                    <a:pt x="320675" y="21590"/>
                    <a:pt x="320675" y="48133"/>
                  </a:cubicBezTo>
                  <a:lnTo>
                    <a:pt x="320675" y="2827020"/>
                  </a:lnTo>
                  <a:cubicBezTo>
                    <a:pt x="320675" y="2853563"/>
                    <a:pt x="299085" y="2875153"/>
                    <a:pt x="272542" y="2875153"/>
                  </a:cubicBezTo>
                  <a:lnTo>
                    <a:pt x="48133" y="2875153"/>
                  </a:lnTo>
                  <a:cubicBezTo>
                    <a:pt x="21590" y="2875153"/>
                    <a:pt x="0" y="2853563"/>
                    <a:pt x="0" y="2827020"/>
                  </a:cubicBezTo>
                  <a:close/>
                </a:path>
              </a:pathLst>
            </a:custGeom>
            <a:solidFill>
              <a:srgbClr val="433550"/>
            </a:solidFill>
            <a:ln w="12700">
              <a:solidFill>
                <a:srgbClr val="000000"/>
              </a:solidFill>
            </a:ln>
          </p:spPr>
        </p:sp>
      </p:grpSp>
      <p:sp>
        <p:nvSpPr>
          <p:cNvPr id="13" name="TextBox 13"/>
          <p:cNvSpPr txBox="1"/>
          <p:nvPr/>
        </p:nvSpPr>
        <p:spPr>
          <a:xfrm>
            <a:off x="1383506" y="2438102"/>
            <a:ext cx="3308598" cy="414040"/>
          </a:xfrm>
          <a:prstGeom prst="rect">
            <a:avLst/>
          </a:prstGeom>
        </p:spPr>
        <p:txBody>
          <a:bodyPr lIns="0" tIns="0" rIns="0" bIns="0" rtlCol="0" anchor="t">
            <a:spAutoFit/>
          </a:bodyPr>
          <a:lstStyle/>
          <a:p>
            <a:pPr algn="l">
              <a:lnSpc>
                <a:spcPts val="2937"/>
              </a:lnSpc>
            </a:pPr>
            <a:r>
              <a:rPr lang="en-US" sz="2312" b="1" dirty="0">
                <a:solidFill>
                  <a:srgbClr val="DAD1E6"/>
                </a:solidFill>
                <a:latin typeface="Arimo Bold"/>
                <a:ea typeface="Arimo Bold"/>
                <a:cs typeface="Arimo Bold"/>
                <a:sym typeface="Arimo Bold"/>
              </a:rPr>
              <a:t>Overcoming Size Limits</a:t>
            </a:r>
          </a:p>
        </p:txBody>
      </p:sp>
      <p:sp>
        <p:nvSpPr>
          <p:cNvPr id="14" name="TextBox 14"/>
          <p:cNvSpPr txBox="1"/>
          <p:nvPr/>
        </p:nvSpPr>
        <p:spPr>
          <a:xfrm>
            <a:off x="1323231" y="3275856"/>
            <a:ext cx="9264551" cy="1240780"/>
          </a:xfrm>
          <a:prstGeom prst="rect">
            <a:avLst/>
          </a:prstGeom>
        </p:spPr>
        <p:txBody>
          <a:bodyPr lIns="0" tIns="0" rIns="0" bIns="0" rtlCol="0" anchor="t">
            <a:spAutoFit/>
          </a:bodyPr>
          <a:lstStyle/>
          <a:p>
            <a:pPr algn="l">
              <a:lnSpc>
                <a:spcPts val="3000"/>
              </a:lnSpc>
            </a:pPr>
            <a:r>
              <a:rPr lang="en-US" sz="1874">
                <a:solidFill>
                  <a:srgbClr val="DAD1E6"/>
                </a:solidFill>
                <a:latin typeface="Fira Sans"/>
                <a:ea typeface="Fira Sans"/>
                <a:cs typeface="Fira Sans"/>
                <a:sym typeface="Fira Sans"/>
              </a:rPr>
              <a:t>When a single-level index itself grows excessively large, becoming unwieldy and slow to search, the database intelligently creates </a:t>
            </a:r>
            <a:r>
              <a:rPr lang="en-US" sz="1874" b="1">
                <a:solidFill>
                  <a:srgbClr val="DAD1E6"/>
                </a:solidFill>
                <a:latin typeface="Fira Sans Bold"/>
                <a:ea typeface="Fira Sans Bold"/>
                <a:cs typeface="Fira Sans Bold"/>
                <a:sym typeface="Fira Sans Bold"/>
              </a:rPr>
              <a:t>indexes on the index</a:t>
            </a:r>
            <a:r>
              <a:rPr lang="en-US" sz="1874">
                <a:solidFill>
                  <a:srgbClr val="DAD1E6"/>
                </a:solidFill>
                <a:latin typeface="Fira Sans"/>
                <a:ea typeface="Fira Sans"/>
                <a:cs typeface="Fira Sans"/>
                <a:sym typeface="Fira Sans"/>
              </a:rPr>
              <a:t>. This hierarchical structure is known as a multilevel index.</a:t>
            </a:r>
          </a:p>
        </p:txBody>
      </p:sp>
      <p:grpSp>
        <p:nvGrpSpPr>
          <p:cNvPr id="15" name="Group 15"/>
          <p:cNvGrpSpPr/>
          <p:nvPr/>
        </p:nvGrpSpPr>
        <p:grpSpPr>
          <a:xfrm>
            <a:off x="1203126" y="4997649"/>
            <a:ext cx="240506" cy="2156371"/>
            <a:chOff x="0" y="0"/>
            <a:chExt cx="320675" cy="2875162"/>
          </a:xfrm>
        </p:grpSpPr>
        <p:sp>
          <p:nvSpPr>
            <p:cNvPr id="16" name="Freeform 16"/>
            <p:cNvSpPr/>
            <p:nvPr/>
          </p:nvSpPr>
          <p:spPr>
            <a:xfrm>
              <a:off x="0" y="0"/>
              <a:ext cx="320675" cy="2875153"/>
            </a:xfrm>
            <a:custGeom>
              <a:avLst/>
              <a:gdLst/>
              <a:ahLst/>
              <a:cxnLst/>
              <a:rect l="l" t="t" r="r" b="b"/>
              <a:pathLst>
                <a:path w="320675" h="2875153">
                  <a:moveTo>
                    <a:pt x="0" y="48133"/>
                  </a:moveTo>
                  <a:cubicBezTo>
                    <a:pt x="0" y="21590"/>
                    <a:pt x="21590" y="0"/>
                    <a:pt x="48133" y="0"/>
                  </a:cubicBezTo>
                  <a:lnTo>
                    <a:pt x="272542" y="0"/>
                  </a:lnTo>
                  <a:cubicBezTo>
                    <a:pt x="299085" y="0"/>
                    <a:pt x="320675" y="21590"/>
                    <a:pt x="320675" y="48133"/>
                  </a:cubicBezTo>
                  <a:lnTo>
                    <a:pt x="320675" y="2827020"/>
                  </a:lnTo>
                  <a:cubicBezTo>
                    <a:pt x="320675" y="2853563"/>
                    <a:pt x="299085" y="2875153"/>
                    <a:pt x="272542" y="2875153"/>
                  </a:cubicBezTo>
                  <a:lnTo>
                    <a:pt x="48133" y="2875153"/>
                  </a:lnTo>
                  <a:cubicBezTo>
                    <a:pt x="21590" y="2875153"/>
                    <a:pt x="0" y="2853563"/>
                    <a:pt x="0" y="2827020"/>
                  </a:cubicBezTo>
                  <a:close/>
                </a:path>
              </a:pathLst>
            </a:custGeom>
            <a:solidFill>
              <a:srgbClr val="433550"/>
            </a:solidFill>
            <a:ln w="12700">
              <a:solidFill>
                <a:srgbClr val="000000"/>
              </a:solidFill>
            </a:ln>
          </p:spPr>
        </p:sp>
      </p:grpSp>
      <p:sp>
        <p:nvSpPr>
          <p:cNvPr id="17" name="TextBox 17"/>
          <p:cNvSpPr txBox="1"/>
          <p:nvPr/>
        </p:nvSpPr>
        <p:spPr>
          <a:xfrm>
            <a:off x="1684139" y="5200055"/>
            <a:ext cx="3007965" cy="414040"/>
          </a:xfrm>
          <a:prstGeom prst="rect">
            <a:avLst/>
          </a:prstGeom>
        </p:spPr>
        <p:txBody>
          <a:bodyPr lIns="0" tIns="0" rIns="0" bIns="0" rtlCol="0" anchor="t">
            <a:spAutoFit/>
          </a:bodyPr>
          <a:lstStyle/>
          <a:p>
            <a:pPr algn="l">
              <a:lnSpc>
                <a:spcPts val="2937"/>
              </a:lnSpc>
            </a:pPr>
            <a:r>
              <a:rPr lang="en-US" sz="2312" b="1">
                <a:solidFill>
                  <a:srgbClr val="DAD1E6"/>
                </a:solidFill>
                <a:latin typeface="Arimo Bold"/>
                <a:ea typeface="Arimo Bold"/>
                <a:cs typeface="Arimo Bold"/>
                <a:sym typeface="Arimo Bold"/>
              </a:rPr>
              <a:t>Tree Structure</a:t>
            </a:r>
          </a:p>
        </p:txBody>
      </p:sp>
      <p:sp>
        <p:nvSpPr>
          <p:cNvPr id="18" name="TextBox 18"/>
          <p:cNvSpPr txBox="1"/>
          <p:nvPr/>
        </p:nvSpPr>
        <p:spPr>
          <a:xfrm>
            <a:off x="1684139" y="5672733"/>
            <a:ext cx="8903642" cy="1240780"/>
          </a:xfrm>
          <a:prstGeom prst="rect">
            <a:avLst/>
          </a:prstGeom>
        </p:spPr>
        <p:txBody>
          <a:bodyPr lIns="0" tIns="0" rIns="0" bIns="0" rtlCol="0" anchor="t">
            <a:spAutoFit/>
          </a:bodyPr>
          <a:lstStyle/>
          <a:p>
            <a:pPr algn="l">
              <a:lnSpc>
                <a:spcPts val="3000"/>
              </a:lnSpc>
            </a:pPr>
            <a:r>
              <a:rPr lang="en-US" sz="1874" dirty="0">
                <a:solidFill>
                  <a:srgbClr val="DAD1E6"/>
                </a:solidFill>
                <a:latin typeface="Fira Sans"/>
                <a:ea typeface="Fira Sans"/>
                <a:cs typeface="Fira Sans"/>
                <a:sym typeface="Fira Sans"/>
              </a:rPr>
              <a:t>Multilevel indexes are typically organized in a tree-like fashion, most commonly as a </a:t>
            </a:r>
            <a:r>
              <a:rPr lang="en-US" sz="1874" dirty="0">
                <a:solidFill>
                  <a:srgbClr val="F94CAF"/>
                </a:solidFill>
                <a:latin typeface="Fira Sans"/>
                <a:ea typeface="Fira Sans"/>
                <a:cs typeface="Fira Sans"/>
                <a:sym typeface="Fira Sans"/>
              </a:rPr>
              <a:t>B-tree</a:t>
            </a:r>
            <a:r>
              <a:rPr lang="en-US" sz="1874" dirty="0">
                <a:solidFill>
                  <a:srgbClr val="DAD1E6"/>
                </a:solidFill>
                <a:latin typeface="Fira Sans"/>
                <a:ea typeface="Fira Sans"/>
                <a:cs typeface="Fira Sans"/>
                <a:sym typeface="Fira Sans"/>
              </a:rPr>
              <a:t>. This structure comprises a root node, intermediate levels, and leaf nodes that eventually point to the actual data records.</a:t>
            </a:r>
          </a:p>
        </p:txBody>
      </p:sp>
      <p:grpSp>
        <p:nvGrpSpPr>
          <p:cNvPr id="19" name="Group 19"/>
          <p:cNvGrpSpPr/>
          <p:nvPr/>
        </p:nvGrpSpPr>
        <p:grpSpPr>
          <a:xfrm>
            <a:off x="1564035" y="7394525"/>
            <a:ext cx="240506" cy="2156371"/>
            <a:chOff x="0" y="0"/>
            <a:chExt cx="320675" cy="2875162"/>
          </a:xfrm>
        </p:grpSpPr>
        <p:sp>
          <p:nvSpPr>
            <p:cNvPr id="20" name="Freeform 20"/>
            <p:cNvSpPr/>
            <p:nvPr/>
          </p:nvSpPr>
          <p:spPr>
            <a:xfrm>
              <a:off x="0" y="0"/>
              <a:ext cx="320675" cy="2875153"/>
            </a:xfrm>
            <a:custGeom>
              <a:avLst/>
              <a:gdLst/>
              <a:ahLst/>
              <a:cxnLst/>
              <a:rect l="l" t="t" r="r" b="b"/>
              <a:pathLst>
                <a:path w="320675" h="2875153">
                  <a:moveTo>
                    <a:pt x="0" y="48133"/>
                  </a:moveTo>
                  <a:cubicBezTo>
                    <a:pt x="0" y="21590"/>
                    <a:pt x="21590" y="0"/>
                    <a:pt x="48133" y="0"/>
                  </a:cubicBezTo>
                  <a:lnTo>
                    <a:pt x="272542" y="0"/>
                  </a:lnTo>
                  <a:cubicBezTo>
                    <a:pt x="299085" y="0"/>
                    <a:pt x="320675" y="21590"/>
                    <a:pt x="320675" y="48133"/>
                  </a:cubicBezTo>
                  <a:lnTo>
                    <a:pt x="320675" y="2827020"/>
                  </a:lnTo>
                  <a:cubicBezTo>
                    <a:pt x="320675" y="2853563"/>
                    <a:pt x="299085" y="2875153"/>
                    <a:pt x="272542" y="2875153"/>
                  </a:cubicBezTo>
                  <a:lnTo>
                    <a:pt x="48133" y="2875153"/>
                  </a:lnTo>
                  <a:cubicBezTo>
                    <a:pt x="21590" y="2875153"/>
                    <a:pt x="0" y="2853563"/>
                    <a:pt x="0" y="2827020"/>
                  </a:cubicBezTo>
                  <a:close/>
                </a:path>
              </a:pathLst>
            </a:custGeom>
            <a:solidFill>
              <a:srgbClr val="433550"/>
            </a:solidFill>
            <a:ln w="12700">
              <a:solidFill>
                <a:srgbClr val="000000"/>
              </a:solidFill>
            </a:ln>
          </p:spPr>
        </p:sp>
      </p:grpSp>
      <p:sp>
        <p:nvSpPr>
          <p:cNvPr id="21" name="TextBox 21"/>
          <p:cNvSpPr txBox="1"/>
          <p:nvPr/>
        </p:nvSpPr>
        <p:spPr>
          <a:xfrm>
            <a:off x="2049809" y="7423100"/>
            <a:ext cx="3158281" cy="414040"/>
          </a:xfrm>
          <a:prstGeom prst="rect">
            <a:avLst/>
          </a:prstGeom>
        </p:spPr>
        <p:txBody>
          <a:bodyPr lIns="0" tIns="0" rIns="0" bIns="0" rtlCol="0" anchor="t">
            <a:spAutoFit/>
          </a:bodyPr>
          <a:lstStyle/>
          <a:p>
            <a:pPr algn="l">
              <a:lnSpc>
                <a:spcPts val="2937"/>
              </a:lnSpc>
            </a:pPr>
            <a:r>
              <a:rPr lang="en-US" sz="2312" b="1" dirty="0">
                <a:solidFill>
                  <a:srgbClr val="DAD1E6"/>
                </a:solidFill>
                <a:latin typeface="Arimo Bold"/>
                <a:ea typeface="Arimo Bold"/>
                <a:cs typeface="Arimo Bold"/>
                <a:sym typeface="Arimo Bold"/>
              </a:rPr>
              <a:t>Optimized Disk Access</a:t>
            </a:r>
          </a:p>
        </p:txBody>
      </p:sp>
      <p:sp>
        <p:nvSpPr>
          <p:cNvPr id="22" name="TextBox 22"/>
          <p:cNvSpPr txBox="1"/>
          <p:nvPr/>
        </p:nvSpPr>
        <p:spPr>
          <a:xfrm>
            <a:off x="2045047" y="8069610"/>
            <a:ext cx="8542735" cy="1240780"/>
          </a:xfrm>
          <a:prstGeom prst="rect">
            <a:avLst/>
          </a:prstGeom>
        </p:spPr>
        <p:txBody>
          <a:bodyPr lIns="0" tIns="0" rIns="0" bIns="0" rtlCol="0" anchor="t">
            <a:spAutoFit/>
          </a:bodyPr>
          <a:lstStyle/>
          <a:p>
            <a:pPr algn="l">
              <a:lnSpc>
                <a:spcPts val="3000"/>
              </a:lnSpc>
            </a:pPr>
            <a:r>
              <a:rPr lang="en-US" sz="1874">
                <a:solidFill>
                  <a:srgbClr val="DAD1E6"/>
                </a:solidFill>
                <a:latin typeface="Fira Sans"/>
                <a:ea typeface="Fira Sans"/>
                <a:cs typeface="Fira Sans"/>
                <a:sym typeface="Fira Sans"/>
              </a:rPr>
              <a:t>The primary benefit of a multilevel index is its ability to </a:t>
            </a:r>
            <a:r>
              <a:rPr lang="en-US" sz="1874" b="1">
                <a:solidFill>
                  <a:srgbClr val="DAD1E6"/>
                </a:solidFill>
                <a:latin typeface="Fira Sans Bold"/>
                <a:ea typeface="Fira Sans Bold"/>
                <a:cs typeface="Fira Sans Bold"/>
                <a:sym typeface="Fira Sans Bold"/>
              </a:rPr>
              <a:t>drastically reduce the number of disk I/O operations</a:t>
            </a:r>
            <a:r>
              <a:rPr lang="en-US" sz="1874">
                <a:solidFill>
                  <a:srgbClr val="DAD1E6"/>
                </a:solidFill>
                <a:latin typeface="Fira Sans"/>
                <a:ea typeface="Fira Sans"/>
                <a:cs typeface="Fira Sans"/>
                <a:sym typeface="Fira Sans"/>
              </a:rPr>
              <a:t> required for a search, even in databases with vast amounts of data, leading to significantly faster query execution.</a:t>
            </a:r>
          </a:p>
        </p:txBody>
      </p:sp>
      <p:sp>
        <p:nvSpPr>
          <p:cNvPr id="26" name="Date Placeholder 25">
            <a:extLst>
              <a:ext uri="{FF2B5EF4-FFF2-40B4-BE49-F238E27FC236}">
                <a16:creationId xmlns:a16="http://schemas.microsoft.com/office/drawing/2014/main" id="{620F4AD1-4866-F48E-65D0-074875D9CECB}"/>
              </a:ext>
            </a:extLst>
          </p:cNvPr>
          <p:cNvSpPr>
            <a:spLocks noGrp="1"/>
          </p:cNvSpPr>
          <p:nvPr>
            <p:ph type="dt" sz="half" idx="10"/>
          </p:nvPr>
        </p:nvSpPr>
        <p:spPr>
          <a:xfrm>
            <a:off x="376832" y="9666776"/>
            <a:ext cx="2133600" cy="365125"/>
          </a:xfrm>
        </p:spPr>
        <p:txBody>
          <a:bodyPr/>
          <a:lstStyle/>
          <a:p>
            <a:fld id="{3060AB77-AF9A-46E0-946D-07249B24362B}" type="datetime1">
              <a:rPr lang="en-US" smtClean="0"/>
              <a:t>12/10/2025</a:t>
            </a:fld>
            <a:endParaRPr lang="en-US" dirty="0"/>
          </a:p>
        </p:txBody>
      </p:sp>
      <p:sp>
        <p:nvSpPr>
          <p:cNvPr id="27" name="Slide Number Placeholder 26">
            <a:extLst>
              <a:ext uri="{FF2B5EF4-FFF2-40B4-BE49-F238E27FC236}">
                <a16:creationId xmlns:a16="http://schemas.microsoft.com/office/drawing/2014/main" id="{5E06C512-BD40-629F-6DFC-D28D015B98B2}"/>
              </a:ext>
            </a:extLst>
          </p:cNvPr>
          <p:cNvSpPr>
            <a:spLocks noGrp="1"/>
          </p:cNvSpPr>
          <p:nvPr>
            <p:ph type="sldNum" sz="quarter" idx="12"/>
          </p:nvPr>
        </p:nvSpPr>
        <p:spPr>
          <a:xfrm>
            <a:off x="-930771" y="9242698"/>
            <a:ext cx="2133600" cy="365125"/>
          </a:xfrm>
        </p:spPr>
        <p:txBody>
          <a:bodyPr/>
          <a:lstStyle/>
          <a:p>
            <a:fld id="{B6F15528-21DE-4FAA-801E-634DDDAF4B2B}"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id="4" name="Group 4"/>
          <p:cNvGrpSpPr/>
          <p:nvPr/>
        </p:nvGrpSpPr>
        <p:grpSpPr>
          <a:xfrm>
            <a:off x="0" y="82154"/>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id="6" name="TextBox 6"/>
          <p:cNvSpPr txBox="1"/>
          <p:nvPr/>
        </p:nvSpPr>
        <p:spPr>
          <a:xfrm>
            <a:off x="643681" y="467617"/>
            <a:ext cx="7125891" cy="612725"/>
          </a:xfrm>
          <a:prstGeom prst="rect">
            <a:avLst/>
          </a:prstGeom>
        </p:spPr>
        <p:txBody>
          <a:bodyPr lIns="0" tIns="0" rIns="0" bIns="0" rtlCol="0" anchor="t">
            <a:spAutoFit/>
          </a:bodyPr>
          <a:lstStyle/>
          <a:p>
            <a:pPr algn="l">
              <a:lnSpc>
                <a:spcPts val="4499"/>
              </a:lnSpc>
            </a:pPr>
            <a:r>
              <a:rPr lang="en-US" sz="3562" b="1">
                <a:solidFill>
                  <a:srgbClr val="F94CAF"/>
                </a:solidFill>
                <a:latin typeface="Arimo Bold"/>
                <a:ea typeface="Arimo Bold"/>
                <a:cs typeface="Arimo Bold"/>
                <a:sym typeface="Arimo Bold"/>
              </a:rPr>
              <a:t>Indexing in DBMS: Key Takeaways</a:t>
            </a:r>
          </a:p>
        </p:txBody>
      </p:sp>
      <p:grpSp>
        <p:nvGrpSpPr>
          <p:cNvPr id="8" name="Group 8"/>
          <p:cNvGrpSpPr/>
          <p:nvPr/>
        </p:nvGrpSpPr>
        <p:grpSpPr>
          <a:xfrm>
            <a:off x="643681" y="2243435"/>
            <a:ext cx="735657" cy="1103411"/>
            <a:chOff x="0" y="0"/>
            <a:chExt cx="980877" cy="1471215"/>
          </a:xfrm>
        </p:grpSpPr>
        <p:sp>
          <p:nvSpPr>
            <p:cNvPr id="9" name="Freeform 9"/>
            <p:cNvSpPr/>
            <p:nvPr/>
          </p:nvSpPr>
          <p:spPr>
            <a:xfrm>
              <a:off x="0" y="0"/>
              <a:ext cx="980821" cy="1471295"/>
            </a:xfrm>
            <a:custGeom>
              <a:avLst/>
              <a:gdLst/>
              <a:ahLst/>
              <a:cxnLst/>
              <a:rect l="l" t="t" r="r" b="b"/>
              <a:pathLst>
                <a:path w="980821" h="1471295">
                  <a:moveTo>
                    <a:pt x="0" y="490474"/>
                  </a:moveTo>
                  <a:cubicBezTo>
                    <a:pt x="0" y="219583"/>
                    <a:pt x="219583" y="0"/>
                    <a:pt x="490474" y="0"/>
                  </a:cubicBezTo>
                  <a:cubicBezTo>
                    <a:pt x="761365" y="0"/>
                    <a:pt x="980821" y="219583"/>
                    <a:pt x="980821" y="490474"/>
                  </a:cubicBezTo>
                  <a:lnTo>
                    <a:pt x="980821" y="980821"/>
                  </a:lnTo>
                  <a:cubicBezTo>
                    <a:pt x="980821" y="1251712"/>
                    <a:pt x="761238" y="1471295"/>
                    <a:pt x="490347" y="1471295"/>
                  </a:cubicBezTo>
                  <a:cubicBezTo>
                    <a:pt x="219456" y="1471295"/>
                    <a:pt x="0" y="1251585"/>
                    <a:pt x="0" y="980821"/>
                  </a:cubicBezTo>
                  <a:close/>
                </a:path>
              </a:pathLst>
            </a:custGeom>
            <a:solidFill>
              <a:srgbClr val="433550"/>
            </a:solidFill>
            <a:ln w="12700">
              <a:solidFill>
                <a:srgbClr val="000000"/>
              </a:solidFill>
            </a:ln>
          </p:spPr>
        </p:sp>
      </p:grpSp>
      <p:sp>
        <p:nvSpPr>
          <p:cNvPr id="10" name="TextBox 10"/>
          <p:cNvSpPr txBox="1"/>
          <p:nvPr/>
        </p:nvSpPr>
        <p:spPr>
          <a:xfrm>
            <a:off x="873621" y="2651224"/>
            <a:ext cx="275779" cy="316260"/>
          </a:xfrm>
          <a:prstGeom prst="rect">
            <a:avLst/>
          </a:prstGeom>
        </p:spPr>
        <p:txBody>
          <a:bodyPr lIns="0" tIns="0" rIns="0" bIns="0" rtlCol="0" anchor="t">
            <a:spAutoFit/>
          </a:bodyPr>
          <a:lstStyle/>
          <a:p>
            <a:pPr algn="l">
              <a:lnSpc>
                <a:spcPts val="2125"/>
              </a:lnSpc>
            </a:pPr>
            <a:r>
              <a:rPr lang="en-US" sz="2125" b="1">
                <a:solidFill>
                  <a:srgbClr val="DAD1E6"/>
                </a:solidFill>
                <a:latin typeface="Arimo Bold"/>
                <a:ea typeface="Arimo Bold"/>
                <a:cs typeface="Arimo Bold"/>
                <a:sym typeface="Arimo Bold"/>
              </a:rPr>
              <a:t>1</a:t>
            </a:r>
          </a:p>
        </p:txBody>
      </p:sp>
      <p:sp>
        <p:nvSpPr>
          <p:cNvPr id="11" name="TextBox 11"/>
          <p:cNvSpPr txBox="1"/>
          <p:nvPr/>
        </p:nvSpPr>
        <p:spPr>
          <a:xfrm>
            <a:off x="1563141" y="2389138"/>
            <a:ext cx="2298799" cy="325488"/>
          </a:xfrm>
          <a:prstGeom prst="rect">
            <a:avLst/>
          </a:prstGeom>
        </p:spPr>
        <p:txBody>
          <a:bodyPr lIns="0" tIns="0" rIns="0" bIns="0" rtlCol="0" anchor="t">
            <a:spAutoFit/>
          </a:bodyPr>
          <a:lstStyle/>
          <a:p>
            <a:pPr algn="l">
              <a:lnSpc>
                <a:spcPts val="2249"/>
              </a:lnSpc>
            </a:pPr>
            <a:r>
              <a:rPr lang="en-US" sz="1750" b="1">
                <a:solidFill>
                  <a:srgbClr val="DAD1E6"/>
                </a:solidFill>
                <a:latin typeface="Arimo Bold"/>
                <a:ea typeface="Arimo Bold"/>
                <a:cs typeface="Arimo Bold"/>
                <a:sym typeface="Arimo Bold"/>
              </a:rPr>
              <a:t>Primary Index</a:t>
            </a:r>
          </a:p>
        </p:txBody>
      </p:sp>
      <p:sp>
        <p:nvSpPr>
          <p:cNvPr id="12" name="TextBox 12"/>
          <p:cNvSpPr txBox="1"/>
          <p:nvPr/>
        </p:nvSpPr>
        <p:spPr>
          <a:xfrm>
            <a:off x="1563141" y="2758231"/>
            <a:ext cx="16081176" cy="360909"/>
          </a:xfrm>
          <a:prstGeom prst="rect">
            <a:avLst/>
          </a:prstGeom>
        </p:spPr>
        <p:txBody>
          <a:bodyPr lIns="0" tIns="0" rIns="0" bIns="0" rtlCol="0" anchor="t">
            <a:spAutoFit/>
          </a:bodyPr>
          <a:lstStyle/>
          <a:p>
            <a:pPr algn="l">
              <a:lnSpc>
                <a:spcPts val="2312"/>
              </a:lnSpc>
            </a:pPr>
            <a:r>
              <a:rPr lang="en-US" sz="1437">
                <a:solidFill>
                  <a:srgbClr val="DAD1E6"/>
                </a:solidFill>
                <a:latin typeface="Fira Sans"/>
                <a:ea typeface="Fira Sans"/>
                <a:cs typeface="Fira Sans"/>
                <a:sym typeface="Fira Sans"/>
              </a:rPr>
              <a:t>Based on unique primary keys, defining the data's fundamental order.</a:t>
            </a:r>
          </a:p>
        </p:txBody>
      </p:sp>
      <p:grpSp>
        <p:nvGrpSpPr>
          <p:cNvPr id="13" name="Group 13"/>
          <p:cNvGrpSpPr/>
          <p:nvPr/>
        </p:nvGrpSpPr>
        <p:grpSpPr>
          <a:xfrm>
            <a:off x="643681" y="3530650"/>
            <a:ext cx="735657" cy="1103411"/>
            <a:chOff x="0" y="0"/>
            <a:chExt cx="980877" cy="1471215"/>
          </a:xfrm>
        </p:grpSpPr>
        <p:sp>
          <p:nvSpPr>
            <p:cNvPr id="14" name="Freeform 14"/>
            <p:cNvSpPr/>
            <p:nvPr/>
          </p:nvSpPr>
          <p:spPr>
            <a:xfrm>
              <a:off x="0" y="0"/>
              <a:ext cx="980821" cy="1471295"/>
            </a:xfrm>
            <a:custGeom>
              <a:avLst/>
              <a:gdLst/>
              <a:ahLst/>
              <a:cxnLst/>
              <a:rect l="l" t="t" r="r" b="b"/>
              <a:pathLst>
                <a:path w="980821" h="1471295">
                  <a:moveTo>
                    <a:pt x="0" y="490474"/>
                  </a:moveTo>
                  <a:cubicBezTo>
                    <a:pt x="0" y="219583"/>
                    <a:pt x="219583" y="0"/>
                    <a:pt x="490474" y="0"/>
                  </a:cubicBezTo>
                  <a:cubicBezTo>
                    <a:pt x="761365" y="0"/>
                    <a:pt x="980821" y="219583"/>
                    <a:pt x="980821" y="490474"/>
                  </a:cubicBezTo>
                  <a:lnTo>
                    <a:pt x="980821" y="980821"/>
                  </a:lnTo>
                  <a:cubicBezTo>
                    <a:pt x="980821" y="1251712"/>
                    <a:pt x="761238" y="1471295"/>
                    <a:pt x="490347" y="1471295"/>
                  </a:cubicBezTo>
                  <a:cubicBezTo>
                    <a:pt x="219456" y="1471295"/>
                    <a:pt x="0" y="1251585"/>
                    <a:pt x="0" y="980821"/>
                  </a:cubicBezTo>
                  <a:close/>
                </a:path>
              </a:pathLst>
            </a:custGeom>
            <a:solidFill>
              <a:srgbClr val="433550"/>
            </a:solidFill>
            <a:ln w="12700">
              <a:solidFill>
                <a:srgbClr val="000000"/>
              </a:solidFill>
            </a:ln>
          </p:spPr>
        </p:sp>
      </p:grpSp>
      <p:sp>
        <p:nvSpPr>
          <p:cNvPr id="15" name="TextBox 15"/>
          <p:cNvSpPr txBox="1"/>
          <p:nvPr/>
        </p:nvSpPr>
        <p:spPr>
          <a:xfrm>
            <a:off x="873621" y="3938439"/>
            <a:ext cx="275779" cy="316260"/>
          </a:xfrm>
          <a:prstGeom prst="rect">
            <a:avLst/>
          </a:prstGeom>
        </p:spPr>
        <p:txBody>
          <a:bodyPr lIns="0" tIns="0" rIns="0" bIns="0" rtlCol="0" anchor="t">
            <a:spAutoFit/>
          </a:bodyPr>
          <a:lstStyle/>
          <a:p>
            <a:pPr algn="l">
              <a:lnSpc>
                <a:spcPts val="2125"/>
              </a:lnSpc>
            </a:pPr>
            <a:r>
              <a:rPr lang="en-US" sz="2125" b="1">
                <a:solidFill>
                  <a:srgbClr val="DAD1E6"/>
                </a:solidFill>
                <a:latin typeface="Arimo Bold"/>
                <a:ea typeface="Arimo Bold"/>
                <a:cs typeface="Arimo Bold"/>
                <a:sym typeface="Arimo Bold"/>
              </a:rPr>
              <a:t>2</a:t>
            </a:r>
          </a:p>
        </p:txBody>
      </p:sp>
      <p:sp>
        <p:nvSpPr>
          <p:cNvPr id="16" name="TextBox 16"/>
          <p:cNvSpPr txBox="1"/>
          <p:nvPr/>
        </p:nvSpPr>
        <p:spPr>
          <a:xfrm>
            <a:off x="1563141" y="3676352"/>
            <a:ext cx="2298799" cy="325488"/>
          </a:xfrm>
          <a:prstGeom prst="rect">
            <a:avLst/>
          </a:prstGeom>
        </p:spPr>
        <p:txBody>
          <a:bodyPr lIns="0" tIns="0" rIns="0" bIns="0" rtlCol="0" anchor="t">
            <a:spAutoFit/>
          </a:bodyPr>
          <a:lstStyle/>
          <a:p>
            <a:pPr algn="l">
              <a:lnSpc>
                <a:spcPts val="2249"/>
              </a:lnSpc>
            </a:pPr>
            <a:r>
              <a:rPr lang="en-US" sz="1750" b="1">
                <a:solidFill>
                  <a:srgbClr val="DAD1E6"/>
                </a:solidFill>
                <a:latin typeface="Arimo Bold"/>
                <a:ea typeface="Arimo Bold"/>
                <a:cs typeface="Arimo Bold"/>
                <a:sym typeface="Arimo Bold"/>
              </a:rPr>
              <a:t>Secondary Index</a:t>
            </a:r>
          </a:p>
        </p:txBody>
      </p:sp>
      <p:sp>
        <p:nvSpPr>
          <p:cNvPr id="17" name="TextBox 17"/>
          <p:cNvSpPr txBox="1"/>
          <p:nvPr/>
        </p:nvSpPr>
        <p:spPr>
          <a:xfrm>
            <a:off x="1563141" y="4045446"/>
            <a:ext cx="16081176" cy="360909"/>
          </a:xfrm>
          <a:prstGeom prst="rect">
            <a:avLst/>
          </a:prstGeom>
        </p:spPr>
        <p:txBody>
          <a:bodyPr lIns="0" tIns="0" rIns="0" bIns="0" rtlCol="0" anchor="t">
            <a:spAutoFit/>
          </a:bodyPr>
          <a:lstStyle/>
          <a:p>
            <a:pPr algn="l">
              <a:lnSpc>
                <a:spcPts val="2312"/>
              </a:lnSpc>
            </a:pPr>
            <a:r>
              <a:rPr lang="en-US" sz="1437">
                <a:solidFill>
                  <a:srgbClr val="DAD1E6"/>
                </a:solidFill>
                <a:latin typeface="Fira Sans"/>
                <a:ea typeface="Fira Sans"/>
                <a:cs typeface="Fira Sans"/>
                <a:sym typeface="Fira Sans"/>
              </a:rPr>
              <a:t>Enables efficient searching on non-key attributes.</a:t>
            </a:r>
          </a:p>
        </p:txBody>
      </p:sp>
      <p:grpSp>
        <p:nvGrpSpPr>
          <p:cNvPr id="18" name="Group 18"/>
          <p:cNvGrpSpPr/>
          <p:nvPr/>
        </p:nvGrpSpPr>
        <p:grpSpPr>
          <a:xfrm>
            <a:off x="643681" y="4817864"/>
            <a:ext cx="735657" cy="1103411"/>
            <a:chOff x="0" y="0"/>
            <a:chExt cx="980877" cy="1471215"/>
          </a:xfrm>
        </p:grpSpPr>
        <p:sp>
          <p:nvSpPr>
            <p:cNvPr id="19" name="Freeform 19"/>
            <p:cNvSpPr/>
            <p:nvPr/>
          </p:nvSpPr>
          <p:spPr>
            <a:xfrm>
              <a:off x="0" y="0"/>
              <a:ext cx="980821" cy="1471295"/>
            </a:xfrm>
            <a:custGeom>
              <a:avLst/>
              <a:gdLst/>
              <a:ahLst/>
              <a:cxnLst/>
              <a:rect l="l" t="t" r="r" b="b"/>
              <a:pathLst>
                <a:path w="980821" h="1471295">
                  <a:moveTo>
                    <a:pt x="0" y="490474"/>
                  </a:moveTo>
                  <a:cubicBezTo>
                    <a:pt x="0" y="219583"/>
                    <a:pt x="219583" y="0"/>
                    <a:pt x="490474" y="0"/>
                  </a:cubicBezTo>
                  <a:cubicBezTo>
                    <a:pt x="761365" y="0"/>
                    <a:pt x="980821" y="219583"/>
                    <a:pt x="980821" y="490474"/>
                  </a:cubicBezTo>
                  <a:lnTo>
                    <a:pt x="980821" y="980821"/>
                  </a:lnTo>
                  <a:cubicBezTo>
                    <a:pt x="980821" y="1251712"/>
                    <a:pt x="761238" y="1471295"/>
                    <a:pt x="490347" y="1471295"/>
                  </a:cubicBezTo>
                  <a:cubicBezTo>
                    <a:pt x="219456" y="1471295"/>
                    <a:pt x="0" y="1251585"/>
                    <a:pt x="0" y="980821"/>
                  </a:cubicBezTo>
                  <a:close/>
                </a:path>
              </a:pathLst>
            </a:custGeom>
            <a:solidFill>
              <a:srgbClr val="433550"/>
            </a:solidFill>
            <a:ln w="12700">
              <a:solidFill>
                <a:srgbClr val="000000"/>
              </a:solidFill>
            </a:ln>
          </p:spPr>
        </p:sp>
      </p:grpSp>
      <p:sp>
        <p:nvSpPr>
          <p:cNvPr id="20" name="TextBox 20"/>
          <p:cNvSpPr txBox="1"/>
          <p:nvPr/>
        </p:nvSpPr>
        <p:spPr>
          <a:xfrm>
            <a:off x="873621" y="5225654"/>
            <a:ext cx="275779" cy="316260"/>
          </a:xfrm>
          <a:prstGeom prst="rect">
            <a:avLst/>
          </a:prstGeom>
        </p:spPr>
        <p:txBody>
          <a:bodyPr lIns="0" tIns="0" rIns="0" bIns="0" rtlCol="0" anchor="t">
            <a:spAutoFit/>
          </a:bodyPr>
          <a:lstStyle/>
          <a:p>
            <a:pPr algn="l">
              <a:lnSpc>
                <a:spcPts val="2125"/>
              </a:lnSpc>
            </a:pPr>
            <a:r>
              <a:rPr lang="en-US" sz="2125" b="1">
                <a:solidFill>
                  <a:srgbClr val="DAD1E6"/>
                </a:solidFill>
                <a:latin typeface="Arimo Bold"/>
                <a:ea typeface="Arimo Bold"/>
                <a:cs typeface="Arimo Bold"/>
                <a:sym typeface="Arimo Bold"/>
              </a:rPr>
              <a:t>3</a:t>
            </a:r>
          </a:p>
        </p:txBody>
      </p:sp>
      <p:sp>
        <p:nvSpPr>
          <p:cNvPr id="21" name="TextBox 21"/>
          <p:cNvSpPr txBox="1"/>
          <p:nvPr/>
        </p:nvSpPr>
        <p:spPr>
          <a:xfrm>
            <a:off x="1563141" y="4963566"/>
            <a:ext cx="2298799" cy="325487"/>
          </a:xfrm>
          <a:prstGeom prst="rect">
            <a:avLst/>
          </a:prstGeom>
        </p:spPr>
        <p:txBody>
          <a:bodyPr lIns="0" tIns="0" rIns="0" bIns="0" rtlCol="0" anchor="t">
            <a:spAutoFit/>
          </a:bodyPr>
          <a:lstStyle/>
          <a:p>
            <a:pPr algn="l">
              <a:lnSpc>
                <a:spcPts val="2249"/>
              </a:lnSpc>
            </a:pPr>
            <a:r>
              <a:rPr lang="en-US" sz="1750" b="1">
                <a:solidFill>
                  <a:srgbClr val="DAD1E6"/>
                </a:solidFill>
                <a:latin typeface="Arimo Bold"/>
                <a:ea typeface="Arimo Bold"/>
                <a:cs typeface="Arimo Bold"/>
                <a:sym typeface="Arimo Bold"/>
              </a:rPr>
              <a:t>Clustering Index</a:t>
            </a:r>
          </a:p>
        </p:txBody>
      </p:sp>
      <p:sp>
        <p:nvSpPr>
          <p:cNvPr id="22" name="TextBox 22"/>
          <p:cNvSpPr txBox="1"/>
          <p:nvPr/>
        </p:nvSpPr>
        <p:spPr>
          <a:xfrm>
            <a:off x="1563141" y="5332660"/>
            <a:ext cx="16081176" cy="360909"/>
          </a:xfrm>
          <a:prstGeom prst="rect">
            <a:avLst/>
          </a:prstGeom>
        </p:spPr>
        <p:txBody>
          <a:bodyPr lIns="0" tIns="0" rIns="0" bIns="0" rtlCol="0" anchor="t">
            <a:spAutoFit/>
          </a:bodyPr>
          <a:lstStyle/>
          <a:p>
            <a:pPr algn="l">
              <a:lnSpc>
                <a:spcPts val="2312"/>
              </a:lnSpc>
            </a:pPr>
            <a:r>
              <a:rPr lang="en-US" sz="1437">
                <a:solidFill>
                  <a:srgbClr val="DAD1E6"/>
                </a:solidFill>
                <a:latin typeface="Fira Sans"/>
                <a:ea typeface="Fira Sans"/>
                <a:cs typeface="Fira Sans"/>
                <a:sym typeface="Fira Sans"/>
              </a:rPr>
              <a:t>Physically groups related records for optimized retrieval.</a:t>
            </a:r>
          </a:p>
        </p:txBody>
      </p:sp>
      <p:grpSp>
        <p:nvGrpSpPr>
          <p:cNvPr id="23" name="Group 23"/>
          <p:cNvGrpSpPr/>
          <p:nvPr/>
        </p:nvGrpSpPr>
        <p:grpSpPr>
          <a:xfrm>
            <a:off x="643681" y="6105079"/>
            <a:ext cx="735657" cy="1103411"/>
            <a:chOff x="0" y="0"/>
            <a:chExt cx="980877" cy="1471215"/>
          </a:xfrm>
        </p:grpSpPr>
        <p:sp>
          <p:nvSpPr>
            <p:cNvPr id="24" name="Freeform 24"/>
            <p:cNvSpPr/>
            <p:nvPr/>
          </p:nvSpPr>
          <p:spPr>
            <a:xfrm>
              <a:off x="0" y="0"/>
              <a:ext cx="980821" cy="1471295"/>
            </a:xfrm>
            <a:custGeom>
              <a:avLst/>
              <a:gdLst/>
              <a:ahLst/>
              <a:cxnLst/>
              <a:rect l="l" t="t" r="r" b="b"/>
              <a:pathLst>
                <a:path w="980821" h="1471295">
                  <a:moveTo>
                    <a:pt x="0" y="490474"/>
                  </a:moveTo>
                  <a:cubicBezTo>
                    <a:pt x="0" y="219583"/>
                    <a:pt x="219583" y="0"/>
                    <a:pt x="490474" y="0"/>
                  </a:cubicBezTo>
                  <a:cubicBezTo>
                    <a:pt x="761365" y="0"/>
                    <a:pt x="980821" y="219583"/>
                    <a:pt x="980821" y="490474"/>
                  </a:cubicBezTo>
                  <a:lnTo>
                    <a:pt x="980821" y="980821"/>
                  </a:lnTo>
                  <a:cubicBezTo>
                    <a:pt x="980821" y="1251712"/>
                    <a:pt x="761238" y="1471295"/>
                    <a:pt x="490347" y="1471295"/>
                  </a:cubicBezTo>
                  <a:cubicBezTo>
                    <a:pt x="219456" y="1471295"/>
                    <a:pt x="0" y="1251585"/>
                    <a:pt x="0" y="980821"/>
                  </a:cubicBezTo>
                  <a:close/>
                </a:path>
              </a:pathLst>
            </a:custGeom>
            <a:solidFill>
              <a:srgbClr val="433550"/>
            </a:solidFill>
            <a:ln w="12700">
              <a:solidFill>
                <a:srgbClr val="000000"/>
              </a:solidFill>
            </a:ln>
          </p:spPr>
        </p:sp>
      </p:grpSp>
      <p:sp>
        <p:nvSpPr>
          <p:cNvPr id="25" name="TextBox 25"/>
          <p:cNvSpPr txBox="1"/>
          <p:nvPr/>
        </p:nvSpPr>
        <p:spPr>
          <a:xfrm>
            <a:off x="873621" y="6512867"/>
            <a:ext cx="275779" cy="316260"/>
          </a:xfrm>
          <a:prstGeom prst="rect">
            <a:avLst/>
          </a:prstGeom>
        </p:spPr>
        <p:txBody>
          <a:bodyPr lIns="0" tIns="0" rIns="0" bIns="0" rtlCol="0" anchor="t">
            <a:spAutoFit/>
          </a:bodyPr>
          <a:lstStyle/>
          <a:p>
            <a:pPr algn="l">
              <a:lnSpc>
                <a:spcPts val="2125"/>
              </a:lnSpc>
            </a:pPr>
            <a:r>
              <a:rPr lang="en-US" sz="2125" b="1">
                <a:solidFill>
                  <a:srgbClr val="DAD1E6"/>
                </a:solidFill>
                <a:latin typeface="Arimo Bold"/>
                <a:ea typeface="Arimo Bold"/>
                <a:cs typeface="Arimo Bold"/>
                <a:sym typeface="Arimo Bold"/>
              </a:rPr>
              <a:t>4</a:t>
            </a:r>
          </a:p>
        </p:txBody>
      </p:sp>
      <p:sp>
        <p:nvSpPr>
          <p:cNvPr id="26" name="TextBox 26"/>
          <p:cNvSpPr txBox="1"/>
          <p:nvPr/>
        </p:nvSpPr>
        <p:spPr>
          <a:xfrm>
            <a:off x="1563141" y="6250781"/>
            <a:ext cx="2298799" cy="325487"/>
          </a:xfrm>
          <a:prstGeom prst="rect">
            <a:avLst/>
          </a:prstGeom>
        </p:spPr>
        <p:txBody>
          <a:bodyPr lIns="0" tIns="0" rIns="0" bIns="0" rtlCol="0" anchor="t">
            <a:spAutoFit/>
          </a:bodyPr>
          <a:lstStyle/>
          <a:p>
            <a:pPr algn="l">
              <a:lnSpc>
                <a:spcPts val="2249"/>
              </a:lnSpc>
            </a:pPr>
            <a:r>
              <a:rPr lang="en-US" sz="1750" b="1">
                <a:solidFill>
                  <a:srgbClr val="DAD1E6"/>
                </a:solidFill>
                <a:latin typeface="Arimo Bold"/>
                <a:ea typeface="Arimo Bold"/>
                <a:cs typeface="Arimo Bold"/>
                <a:sym typeface="Arimo Bold"/>
              </a:rPr>
              <a:t>Non-Clustered Index</a:t>
            </a:r>
          </a:p>
        </p:txBody>
      </p:sp>
      <p:sp>
        <p:nvSpPr>
          <p:cNvPr id="27" name="TextBox 27"/>
          <p:cNvSpPr txBox="1"/>
          <p:nvPr/>
        </p:nvSpPr>
        <p:spPr>
          <a:xfrm>
            <a:off x="1563141" y="6619875"/>
            <a:ext cx="16081176" cy="360909"/>
          </a:xfrm>
          <a:prstGeom prst="rect">
            <a:avLst/>
          </a:prstGeom>
        </p:spPr>
        <p:txBody>
          <a:bodyPr lIns="0" tIns="0" rIns="0" bIns="0" rtlCol="0" anchor="t">
            <a:spAutoFit/>
          </a:bodyPr>
          <a:lstStyle/>
          <a:p>
            <a:pPr algn="l">
              <a:lnSpc>
                <a:spcPts val="2312"/>
              </a:lnSpc>
            </a:pPr>
            <a:r>
              <a:rPr lang="en-US" sz="1437" dirty="0">
                <a:solidFill>
                  <a:srgbClr val="DAD1E6"/>
                </a:solidFill>
                <a:latin typeface="Fira Sans"/>
                <a:ea typeface="Fira Sans"/>
                <a:cs typeface="Fira Sans"/>
                <a:sym typeface="Fira Sans"/>
              </a:rPr>
              <a:t>Separate structures providing flexible search paths without altering physical order.</a:t>
            </a:r>
          </a:p>
        </p:txBody>
      </p:sp>
      <p:grpSp>
        <p:nvGrpSpPr>
          <p:cNvPr id="28" name="Group 28"/>
          <p:cNvGrpSpPr/>
          <p:nvPr/>
        </p:nvGrpSpPr>
        <p:grpSpPr>
          <a:xfrm>
            <a:off x="643681" y="7392292"/>
            <a:ext cx="735657" cy="1103411"/>
            <a:chOff x="0" y="0"/>
            <a:chExt cx="980877" cy="1471215"/>
          </a:xfrm>
        </p:grpSpPr>
        <p:sp>
          <p:nvSpPr>
            <p:cNvPr id="29" name="Freeform 29"/>
            <p:cNvSpPr/>
            <p:nvPr/>
          </p:nvSpPr>
          <p:spPr>
            <a:xfrm>
              <a:off x="0" y="0"/>
              <a:ext cx="980821" cy="1471295"/>
            </a:xfrm>
            <a:custGeom>
              <a:avLst/>
              <a:gdLst/>
              <a:ahLst/>
              <a:cxnLst/>
              <a:rect l="l" t="t" r="r" b="b"/>
              <a:pathLst>
                <a:path w="980821" h="1471295">
                  <a:moveTo>
                    <a:pt x="0" y="490474"/>
                  </a:moveTo>
                  <a:cubicBezTo>
                    <a:pt x="0" y="219583"/>
                    <a:pt x="219583" y="0"/>
                    <a:pt x="490474" y="0"/>
                  </a:cubicBezTo>
                  <a:cubicBezTo>
                    <a:pt x="761365" y="0"/>
                    <a:pt x="980821" y="219583"/>
                    <a:pt x="980821" y="490474"/>
                  </a:cubicBezTo>
                  <a:lnTo>
                    <a:pt x="980821" y="980821"/>
                  </a:lnTo>
                  <a:cubicBezTo>
                    <a:pt x="980821" y="1251712"/>
                    <a:pt x="761238" y="1471295"/>
                    <a:pt x="490347" y="1471295"/>
                  </a:cubicBezTo>
                  <a:cubicBezTo>
                    <a:pt x="219456" y="1471295"/>
                    <a:pt x="0" y="1251585"/>
                    <a:pt x="0" y="980821"/>
                  </a:cubicBezTo>
                  <a:close/>
                </a:path>
              </a:pathLst>
            </a:custGeom>
            <a:solidFill>
              <a:srgbClr val="433550"/>
            </a:solidFill>
            <a:ln w="12700">
              <a:solidFill>
                <a:srgbClr val="000000"/>
              </a:solidFill>
            </a:ln>
          </p:spPr>
        </p:sp>
      </p:grpSp>
      <p:sp>
        <p:nvSpPr>
          <p:cNvPr id="30" name="TextBox 30"/>
          <p:cNvSpPr txBox="1"/>
          <p:nvPr/>
        </p:nvSpPr>
        <p:spPr>
          <a:xfrm>
            <a:off x="873621" y="7800083"/>
            <a:ext cx="275779" cy="316260"/>
          </a:xfrm>
          <a:prstGeom prst="rect">
            <a:avLst/>
          </a:prstGeom>
        </p:spPr>
        <p:txBody>
          <a:bodyPr lIns="0" tIns="0" rIns="0" bIns="0" rtlCol="0" anchor="t">
            <a:spAutoFit/>
          </a:bodyPr>
          <a:lstStyle/>
          <a:p>
            <a:pPr algn="l">
              <a:lnSpc>
                <a:spcPts val="2125"/>
              </a:lnSpc>
            </a:pPr>
            <a:r>
              <a:rPr lang="en-US" sz="2125" b="1">
                <a:solidFill>
                  <a:srgbClr val="DAD1E6"/>
                </a:solidFill>
                <a:latin typeface="Arimo Bold"/>
                <a:ea typeface="Arimo Bold"/>
                <a:cs typeface="Arimo Bold"/>
                <a:sym typeface="Arimo Bold"/>
              </a:rPr>
              <a:t>5</a:t>
            </a:r>
          </a:p>
        </p:txBody>
      </p:sp>
      <p:sp>
        <p:nvSpPr>
          <p:cNvPr id="31" name="TextBox 31"/>
          <p:cNvSpPr txBox="1"/>
          <p:nvPr/>
        </p:nvSpPr>
        <p:spPr>
          <a:xfrm>
            <a:off x="1563141" y="7537996"/>
            <a:ext cx="2298799" cy="325487"/>
          </a:xfrm>
          <a:prstGeom prst="rect">
            <a:avLst/>
          </a:prstGeom>
        </p:spPr>
        <p:txBody>
          <a:bodyPr lIns="0" tIns="0" rIns="0" bIns="0" rtlCol="0" anchor="t">
            <a:spAutoFit/>
          </a:bodyPr>
          <a:lstStyle/>
          <a:p>
            <a:pPr algn="l">
              <a:lnSpc>
                <a:spcPts val="2249"/>
              </a:lnSpc>
            </a:pPr>
            <a:r>
              <a:rPr lang="en-US" sz="1750" b="1">
                <a:solidFill>
                  <a:srgbClr val="DAD1E6"/>
                </a:solidFill>
                <a:latin typeface="Arimo Bold"/>
                <a:ea typeface="Arimo Bold"/>
                <a:cs typeface="Arimo Bold"/>
                <a:sym typeface="Arimo Bold"/>
              </a:rPr>
              <a:t>Dense &amp; Sparse</a:t>
            </a:r>
          </a:p>
        </p:txBody>
      </p:sp>
      <p:sp>
        <p:nvSpPr>
          <p:cNvPr id="32" name="TextBox 32"/>
          <p:cNvSpPr txBox="1"/>
          <p:nvPr/>
        </p:nvSpPr>
        <p:spPr>
          <a:xfrm>
            <a:off x="1563141" y="7907090"/>
            <a:ext cx="16081176" cy="360909"/>
          </a:xfrm>
          <a:prstGeom prst="rect">
            <a:avLst/>
          </a:prstGeom>
        </p:spPr>
        <p:txBody>
          <a:bodyPr lIns="0" tIns="0" rIns="0" bIns="0" rtlCol="0" anchor="t">
            <a:spAutoFit/>
          </a:bodyPr>
          <a:lstStyle/>
          <a:p>
            <a:pPr algn="l">
              <a:lnSpc>
                <a:spcPts val="2312"/>
              </a:lnSpc>
            </a:pPr>
            <a:r>
              <a:rPr lang="en-US" sz="1437">
                <a:solidFill>
                  <a:srgbClr val="DAD1E6"/>
                </a:solidFill>
                <a:latin typeface="Fira Sans"/>
                <a:ea typeface="Fira Sans"/>
                <a:cs typeface="Fira Sans"/>
                <a:sym typeface="Fira Sans"/>
              </a:rPr>
              <a:t>Trade-offs between search speed and storage space.</a:t>
            </a:r>
          </a:p>
        </p:txBody>
      </p:sp>
      <p:grpSp>
        <p:nvGrpSpPr>
          <p:cNvPr id="33" name="Group 33"/>
          <p:cNvGrpSpPr/>
          <p:nvPr/>
        </p:nvGrpSpPr>
        <p:grpSpPr>
          <a:xfrm>
            <a:off x="643681" y="8679507"/>
            <a:ext cx="735657" cy="1103411"/>
            <a:chOff x="0" y="0"/>
            <a:chExt cx="980877" cy="1471215"/>
          </a:xfrm>
        </p:grpSpPr>
        <p:sp>
          <p:nvSpPr>
            <p:cNvPr id="34" name="Freeform 34"/>
            <p:cNvSpPr/>
            <p:nvPr/>
          </p:nvSpPr>
          <p:spPr>
            <a:xfrm>
              <a:off x="0" y="0"/>
              <a:ext cx="980821" cy="1471295"/>
            </a:xfrm>
            <a:custGeom>
              <a:avLst/>
              <a:gdLst/>
              <a:ahLst/>
              <a:cxnLst/>
              <a:rect l="l" t="t" r="r" b="b"/>
              <a:pathLst>
                <a:path w="980821" h="1471295">
                  <a:moveTo>
                    <a:pt x="0" y="490474"/>
                  </a:moveTo>
                  <a:cubicBezTo>
                    <a:pt x="0" y="219583"/>
                    <a:pt x="219583" y="0"/>
                    <a:pt x="490474" y="0"/>
                  </a:cubicBezTo>
                  <a:cubicBezTo>
                    <a:pt x="761365" y="0"/>
                    <a:pt x="980821" y="219583"/>
                    <a:pt x="980821" y="490474"/>
                  </a:cubicBezTo>
                  <a:lnTo>
                    <a:pt x="980821" y="980821"/>
                  </a:lnTo>
                  <a:cubicBezTo>
                    <a:pt x="980821" y="1251712"/>
                    <a:pt x="761238" y="1471295"/>
                    <a:pt x="490347" y="1471295"/>
                  </a:cubicBezTo>
                  <a:cubicBezTo>
                    <a:pt x="219456" y="1471295"/>
                    <a:pt x="0" y="1251585"/>
                    <a:pt x="0" y="980821"/>
                  </a:cubicBezTo>
                  <a:close/>
                </a:path>
              </a:pathLst>
            </a:custGeom>
            <a:solidFill>
              <a:srgbClr val="433550"/>
            </a:solidFill>
            <a:ln w="12700">
              <a:solidFill>
                <a:srgbClr val="000000"/>
              </a:solidFill>
            </a:ln>
          </p:spPr>
        </p:sp>
      </p:grpSp>
      <p:sp>
        <p:nvSpPr>
          <p:cNvPr id="35" name="TextBox 35"/>
          <p:cNvSpPr txBox="1"/>
          <p:nvPr/>
        </p:nvSpPr>
        <p:spPr>
          <a:xfrm>
            <a:off x="873621" y="9087296"/>
            <a:ext cx="275779" cy="316260"/>
          </a:xfrm>
          <a:prstGeom prst="rect">
            <a:avLst/>
          </a:prstGeom>
        </p:spPr>
        <p:txBody>
          <a:bodyPr lIns="0" tIns="0" rIns="0" bIns="0" rtlCol="0" anchor="t">
            <a:spAutoFit/>
          </a:bodyPr>
          <a:lstStyle/>
          <a:p>
            <a:pPr algn="l">
              <a:lnSpc>
                <a:spcPts val="2125"/>
              </a:lnSpc>
            </a:pPr>
            <a:r>
              <a:rPr lang="en-US" sz="2125" b="1">
                <a:solidFill>
                  <a:srgbClr val="DAD1E6"/>
                </a:solidFill>
                <a:latin typeface="Arimo Bold"/>
                <a:ea typeface="Arimo Bold"/>
                <a:cs typeface="Arimo Bold"/>
                <a:sym typeface="Arimo Bold"/>
              </a:rPr>
              <a:t>6</a:t>
            </a:r>
          </a:p>
        </p:txBody>
      </p:sp>
      <p:sp>
        <p:nvSpPr>
          <p:cNvPr id="36" name="TextBox 36"/>
          <p:cNvSpPr txBox="1"/>
          <p:nvPr/>
        </p:nvSpPr>
        <p:spPr>
          <a:xfrm>
            <a:off x="1563141" y="8825210"/>
            <a:ext cx="2298799" cy="325487"/>
          </a:xfrm>
          <a:prstGeom prst="rect">
            <a:avLst/>
          </a:prstGeom>
        </p:spPr>
        <p:txBody>
          <a:bodyPr lIns="0" tIns="0" rIns="0" bIns="0" rtlCol="0" anchor="t">
            <a:spAutoFit/>
          </a:bodyPr>
          <a:lstStyle/>
          <a:p>
            <a:pPr algn="l">
              <a:lnSpc>
                <a:spcPts val="2249"/>
              </a:lnSpc>
            </a:pPr>
            <a:r>
              <a:rPr lang="en-US" sz="1750" b="1">
                <a:solidFill>
                  <a:srgbClr val="DAD1E6"/>
                </a:solidFill>
                <a:latin typeface="Arimo Bold"/>
                <a:ea typeface="Arimo Bold"/>
                <a:cs typeface="Arimo Bold"/>
                <a:sym typeface="Arimo Bold"/>
              </a:rPr>
              <a:t>Multilevel Index</a:t>
            </a:r>
          </a:p>
        </p:txBody>
      </p:sp>
      <p:sp>
        <p:nvSpPr>
          <p:cNvPr id="37" name="TextBox 37"/>
          <p:cNvSpPr txBox="1"/>
          <p:nvPr/>
        </p:nvSpPr>
        <p:spPr>
          <a:xfrm>
            <a:off x="1563141" y="9194304"/>
            <a:ext cx="16081176" cy="360909"/>
          </a:xfrm>
          <a:prstGeom prst="rect">
            <a:avLst/>
          </a:prstGeom>
        </p:spPr>
        <p:txBody>
          <a:bodyPr lIns="0" tIns="0" rIns="0" bIns="0" rtlCol="0" anchor="t">
            <a:spAutoFit/>
          </a:bodyPr>
          <a:lstStyle/>
          <a:p>
            <a:pPr algn="l">
              <a:lnSpc>
                <a:spcPts val="2312"/>
              </a:lnSpc>
            </a:pPr>
            <a:r>
              <a:rPr lang="en-US" sz="1437">
                <a:solidFill>
                  <a:srgbClr val="DAD1E6"/>
                </a:solidFill>
                <a:latin typeface="Fira Sans"/>
                <a:ea typeface="Fira Sans"/>
                <a:cs typeface="Fira Sans"/>
                <a:sym typeface="Fira Sans"/>
              </a:rPr>
              <a:t>Hierarchical structures for scaling performance on large datasets.</a:t>
            </a:r>
          </a:p>
        </p:txBody>
      </p:sp>
      <p:sp>
        <p:nvSpPr>
          <p:cNvPr id="41" name="Date Placeholder 40">
            <a:extLst>
              <a:ext uri="{FF2B5EF4-FFF2-40B4-BE49-F238E27FC236}">
                <a16:creationId xmlns:a16="http://schemas.microsoft.com/office/drawing/2014/main" id="{3FA6584E-498F-F9B4-B9AC-E2BBCEF66E4A}"/>
              </a:ext>
            </a:extLst>
          </p:cNvPr>
          <p:cNvSpPr>
            <a:spLocks noGrp="1"/>
          </p:cNvSpPr>
          <p:nvPr>
            <p:ph type="dt" sz="half" idx="10"/>
          </p:nvPr>
        </p:nvSpPr>
        <p:spPr>
          <a:xfrm>
            <a:off x="15623868" y="9372411"/>
            <a:ext cx="2133600" cy="365125"/>
          </a:xfrm>
        </p:spPr>
        <p:txBody>
          <a:bodyPr/>
          <a:lstStyle/>
          <a:p>
            <a:fld id="{8F0EC1B4-0D20-4146-B669-4D5A5BD2E8BB}" type="datetime1">
              <a:rPr lang="en-US" smtClean="0"/>
              <a:t>12/10/2025</a:t>
            </a:fld>
            <a:endParaRPr lang="en-US" dirty="0"/>
          </a:p>
        </p:txBody>
      </p:sp>
      <p:sp>
        <p:nvSpPr>
          <p:cNvPr id="42" name="Slide Number Placeholder 41">
            <a:extLst>
              <a:ext uri="{FF2B5EF4-FFF2-40B4-BE49-F238E27FC236}">
                <a16:creationId xmlns:a16="http://schemas.microsoft.com/office/drawing/2014/main" id="{D2BEB5CB-9A88-DB03-5835-D2CFBD4DD46C}"/>
              </a:ext>
            </a:extLst>
          </p:cNvPr>
          <p:cNvSpPr>
            <a:spLocks noGrp="1"/>
          </p:cNvSpPr>
          <p:nvPr>
            <p:ph type="sldNum" sz="quarter" idx="12"/>
          </p:nvPr>
        </p:nvSpPr>
        <p:spPr>
          <a:xfrm>
            <a:off x="14097000" y="9011741"/>
            <a:ext cx="2133600" cy="365125"/>
          </a:xfrm>
        </p:spPr>
        <p:txBody>
          <a:bodyPr/>
          <a:lstStyle/>
          <a:p>
            <a:fld id="{B6F15528-21DE-4FAA-801E-634DDDAF4B2B}"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sp>
        <p:nvSpPr>
          <p:cNvPr id="15" name="TextBox 15"/>
          <p:cNvSpPr txBox="1"/>
          <p:nvPr/>
        </p:nvSpPr>
        <p:spPr>
          <a:xfrm>
            <a:off x="873621" y="3938439"/>
            <a:ext cx="275779" cy="316260"/>
          </a:xfrm>
          <a:prstGeom prst="rect">
            <a:avLst/>
          </a:prstGeom>
        </p:spPr>
        <p:txBody>
          <a:bodyPr lIns="0" tIns="0" rIns="0" bIns="0" rtlCol="0" anchor="t">
            <a:spAutoFit/>
          </a:bodyPr>
          <a:lstStyle/>
          <a:p>
            <a:pPr algn="l">
              <a:lnSpc>
                <a:spcPts val="2125"/>
              </a:lnSpc>
            </a:pPr>
            <a:r>
              <a:rPr lang="en-US" sz="2125" b="1" dirty="0">
                <a:solidFill>
                  <a:srgbClr val="DAD1E6"/>
                </a:solidFill>
                <a:latin typeface="Arimo Bold"/>
                <a:ea typeface="Arimo Bold"/>
                <a:cs typeface="Arimo Bold"/>
                <a:sym typeface="Arimo Bold"/>
              </a:rPr>
              <a:t>2</a:t>
            </a:r>
          </a:p>
        </p:txBody>
      </p:sp>
      <p:grpSp>
        <p:nvGrpSpPr>
          <p:cNvPr id="18" name="Group 18"/>
          <p:cNvGrpSpPr/>
          <p:nvPr/>
        </p:nvGrpSpPr>
        <p:grpSpPr>
          <a:xfrm>
            <a:off x="643681" y="4817864"/>
            <a:ext cx="735657" cy="1103411"/>
            <a:chOff x="0" y="0"/>
            <a:chExt cx="980877" cy="1471215"/>
          </a:xfrm>
        </p:grpSpPr>
        <p:sp>
          <p:nvSpPr>
            <p:cNvPr id="19" name="Freeform 19"/>
            <p:cNvSpPr/>
            <p:nvPr/>
          </p:nvSpPr>
          <p:spPr>
            <a:xfrm>
              <a:off x="0" y="0"/>
              <a:ext cx="980821" cy="1471295"/>
            </a:xfrm>
            <a:custGeom>
              <a:avLst/>
              <a:gdLst/>
              <a:ahLst/>
              <a:cxnLst/>
              <a:rect l="l" t="t" r="r" b="b"/>
              <a:pathLst>
                <a:path w="980821" h="1471295">
                  <a:moveTo>
                    <a:pt x="0" y="490474"/>
                  </a:moveTo>
                  <a:cubicBezTo>
                    <a:pt x="0" y="219583"/>
                    <a:pt x="219583" y="0"/>
                    <a:pt x="490474" y="0"/>
                  </a:cubicBezTo>
                  <a:cubicBezTo>
                    <a:pt x="761365" y="0"/>
                    <a:pt x="980821" y="219583"/>
                    <a:pt x="980821" y="490474"/>
                  </a:cubicBezTo>
                  <a:lnTo>
                    <a:pt x="980821" y="980821"/>
                  </a:lnTo>
                  <a:cubicBezTo>
                    <a:pt x="980821" y="1251712"/>
                    <a:pt x="761238" y="1471295"/>
                    <a:pt x="490347" y="1471295"/>
                  </a:cubicBezTo>
                  <a:cubicBezTo>
                    <a:pt x="219456" y="1471295"/>
                    <a:pt x="0" y="1251585"/>
                    <a:pt x="0" y="980821"/>
                  </a:cubicBezTo>
                  <a:close/>
                </a:path>
              </a:pathLst>
            </a:custGeom>
            <a:solidFill>
              <a:srgbClr val="433550"/>
            </a:solidFill>
            <a:ln w="12700">
              <a:solidFill>
                <a:srgbClr val="000000"/>
              </a:solidFill>
            </a:ln>
          </p:spPr>
        </p:sp>
      </p:grpSp>
      <p:sp>
        <p:nvSpPr>
          <p:cNvPr id="20" name="TextBox 20"/>
          <p:cNvSpPr txBox="1"/>
          <p:nvPr/>
        </p:nvSpPr>
        <p:spPr>
          <a:xfrm>
            <a:off x="873621" y="5225654"/>
            <a:ext cx="275779" cy="316260"/>
          </a:xfrm>
          <a:prstGeom prst="rect">
            <a:avLst/>
          </a:prstGeom>
        </p:spPr>
        <p:txBody>
          <a:bodyPr lIns="0" tIns="0" rIns="0" bIns="0" rtlCol="0" anchor="t">
            <a:spAutoFit/>
          </a:bodyPr>
          <a:lstStyle/>
          <a:p>
            <a:pPr algn="l">
              <a:lnSpc>
                <a:spcPts val="2125"/>
              </a:lnSpc>
            </a:pPr>
            <a:r>
              <a:rPr lang="en-US" sz="2125" b="1">
                <a:solidFill>
                  <a:srgbClr val="DAD1E6"/>
                </a:solidFill>
                <a:latin typeface="Arimo Bold"/>
                <a:ea typeface="Arimo Bold"/>
                <a:cs typeface="Arimo Bold"/>
                <a:sym typeface="Arimo Bold"/>
              </a:rPr>
              <a:t>3</a:t>
            </a:r>
          </a:p>
        </p:txBody>
      </p:sp>
      <p:grpSp>
        <p:nvGrpSpPr>
          <p:cNvPr id="23" name="Group 23"/>
          <p:cNvGrpSpPr/>
          <p:nvPr/>
        </p:nvGrpSpPr>
        <p:grpSpPr>
          <a:xfrm>
            <a:off x="643681" y="6105079"/>
            <a:ext cx="735657" cy="1103411"/>
            <a:chOff x="0" y="0"/>
            <a:chExt cx="980877" cy="1471215"/>
          </a:xfrm>
        </p:grpSpPr>
        <p:sp>
          <p:nvSpPr>
            <p:cNvPr id="24" name="Freeform 24"/>
            <p:cNvSpPr/>
            <p:nvPr/>
          </p:nvSpPr>
          <p:spPr>
            <a:xfrm>
              <a:off x="0" y="0"/>
              <a:ext cx="980821" cy="1471295"/>
            </a:xfrm>
            <a:custGeom>
              <a:avLst/>
              <a:gdLst/>
              <a:ahLst/>
              <a:cxnLst/>
              <a:rect l="l" t="t" r="r" b="b"/>
              <a:pathLst>
                <a:path w="980821" h="1471295">
                  <a:moveTo>
                    <a:pt x="0" y="490474"/>
                  </a:moveTo>
                  <a:cubicBezTo>
                    <a:pt x="0" y="219583"/>
                    <a:pt x="219583" y="0"/>
                    <a:pt x="490474" y="0"/>
                  </a:cubicBezTo>
                  <a:cubicBezTo>
                    <a:pt x="761365" y="0"/>
                    <a:pt x="980821" y="219583"/>
                    <a:pt x="980821" y="490474"/>
                  </a:cubicBezTo>
                  <a:lnTo>
                    <a:pt x="980821" y="980821"/>
                  </a:lnTo>
                  <a:cubicBezTo>
                    <a:pt x="980821" y="1251712"/>
                    <a:pt x="761238" y="1471295"/>
                    <a:pt x="490347" y="1471295"/>
                  </a:cubicBezTo>
                  <a:cubicBezTo>
                    <a:pt x="219456" y="1471295"/>
                    <a:pt x="0" y="1251585"/>
                    <a:pt x="0" y="980821"/>
                  </a:cubicBezTo>
                  <a:close/>
                </a:path>
              </a:pathLst>
            </a:custGeom>
            <a:solidFill>
              <a:srgbClr val="433550"/>
            </a:solidFill>
            <a:ln w="12700">
              <a:solidFill>
                <a:srgbClr val="000000"/>
              </a:solidFill>
            </a:ln>
          </p:spPr>
        </p:sp>
      </p:grpSp>
      <p:sp>
        <p:nvSpPr>
          <p:cNvPr id="25" name="TextBox 25"/>
          <p:cNvSpPr txBox="1"/>
          <p:nvPr/>
        </p:nvSpPr>
        <p:spPr>
          <a:xfrm>
            <a:off x="873621" y="6512867"/>
            <a:ext cx="275779" cy="316260"/>
          </a:xfrm>
          <a:prstGeom prst="rect">
            <a:avLst/>
          </a:prstGeom>
        </p:spPr>
        <p:txBody>
          <a:bodyPr lIns="0" tIns="0" rIns="0" bIns="0" rtlCol="0" anchor="t">
            <a:spAutoFit/>
          </a:bodyPr>
          <a:lstStyle/>
          <a:p>
            <a:pPr algn="l">
              <a:lnSpc>
                <a:spcPts val="2125"/>
              </a:lnSpc>
            </a:pPr>
            <a:r>
              <a:rPr lang="en-US" sz="2125" b="1">
                <a:solidFill>
                  <a:srgbClr val="DAD1E6"/>
                </a:solidFill>
                <a:latin typeface="Arimo Bold"/>
                <a:ea typeface="Arimo Bold"/>
                <a:cs typeface="Arimo Bold"/>
                <a:sym typeface="Arimo Bold"/>
              </a:rPr>
              <a:t>4</a:t>
            </a:r>
          </a:p>
        </p:txBody>
      </p:sp>
      <p:grpSp>
        <p:nvGrpSpPr>
          <p:cNvPr id="28" name="Group 28"/>
          <p:cNvGrpSpPr/>
          <p:nvPr/>
        </p:nvGrpSpPr>
        <p:grpSpPr>
          <a:xfrm>
            <a:off x="643681" y="7392292"/>
            <a:ext cx="735657" cy="1103411"/>
            <a:chOff x="0" y="0"/>
            <a:chExt cx="980877" cy="1471215"/>
          </a:xfrm>
        </p:grpSpPr>
        <p:sp>
          <p:nvSpPr>
            <p:cNvPr id="29" name="Freeform 29"/>
            <p:cNvSpPr/>
            <p:nvPr/>
          </p:nvSpPr>
          <p:spPr>
            <a:xfrm>
              <a:off x="0" y="0"/>
              <a:ext cx="980821" cy="1471295"/>
            </a:xfrm>
            <a:custGeom>
              <a:avLst/>
              <a:gdLst/>
              <a:ahLst/>
              <a:cxnLst/>
              <a:rect l="l" t="t" r="r" b="b"/>
              <a:pathLst>
                <a:path w="980821" h="1471295">
                  <a:moveTo>
                    <a:pt x="0" y="490474"/>
                  </a:moveTo>
                  <a:cubicBezTo>
                    <a:pt x="0" y="219583"/>
                    <a:pt x="219583" y="0"/>
                    <a:pt x="490474" y="0"/>
                  </a:cubicBezTo>
                  <a:cubicBezTo>
                    <a:pt x="761365" y="0"/>
                    <a:pt x="980821" y="219583"/>
                    <a:pt x="980821" y="490474"/>
                  </a:cubicBezTo>
                  <a:lnTo>
                    <a:pt x="980821" y="980821"/>
                  </a:lnTo>
                  <a:cubicBezTo>
                    <a:pt x="980821" y="1251712"/>
                    <a:pt x="761238" y="1471295"/>
                    <a:pt x="490347" y="1471295"/>
                  </a:cubicBezTo>
                  <a:cubicBezTo>
                    <a:pt x="219456" y="1471295"/>
                    <a:pt x="0" y="1251585"/>
                    <a:pt x="0" y="980821"/>
                  </a:cubicBezTo>
                  <a:close/>
                </a:path>
              </a:pathLst>
            </a:custGeom>
            <a:solidFill>
              <a:srgbClr val="433550"/>
            </a:solidFill>
            <a:ln w="12700">
              <a:solidFill>
                <a:srgbClr val="000000"/>
              </a:solidFill>
            </a:ln>
          </p:spPr>
        </p:sp>
      </p:grpSp>
      <p:sp>
        <p:nvSpPr>
          <p:cNvPr id="30" name="TextBox 30"/>
          <p:cNvSpPr txBox="1"/>
          <p:nvPr/>
        </p:nvSpPr>
        <p:spPr>
          <a:xfrm>
            <a:off x="873621" y="7800083"/>
            <a:ext cx="275779" cy="316260"/>
          </a:xfrm>
          <a:prstGeom prst="rect">
            <a:avLst/>
          </a:prstGeom>
        </p:spPr>
        <p:txBody>
          <a:bodyPr lIns="0" tIns="0" rIns="0" bIns="0" rtlCol="0" anchor="t">
            <a:spAutoFit/>
          </a:bodyPr>
          <a:lstStyle/>
          <a:p>
            <a:pPr algn="l">
              <a:lnSpc>
                <a:spcPts val="2125"/>
              </a:lnSpc>
            </a:pPr>
            <a:r>
              <a:rPr lang="en-US" sz="2125" b="1">
                <a:solidFill>
                  <a:srgbClr val="DAD1E6"/>
                </a:solidFill>
                <a:latin typeface="Arimo Bold"/>
                <a:ea typeface="Arimo Bold"/>
                <a:cs typeface="Arimo Bold"/>
                <a:sym typeface="Arimo Bold"/>
              </a:rPr>
              <a:t>5</a:t>
            </a:r>
          </a:p>
        </p:txBody>
      </p:sp>
      <p:grpSp>
        <p:nvGrpSpPr>
          <p:cNvPr id="33" name="Group 33"/>
          <p:cNvGrpSpPr/>
          <p:nvPr/>
        </p:nvGrpSpPr>
        <p:grpSpPr>
          <a:xfrm>
            <a:off x="643681" y="8679507"/>
            <a:ext cx="735657" cy="1103411"/>
            <a:chOff x="0" y="0"/>
            <a:chExt cx="980877" cy="1471215"/>
          </a:xfrm>
        </p:grpSpPr>
        <p:sp>
          <p:nvSpPr>
            <p:cNvPr id="34" name="Freeform 34"/>
            <p:cNvSpPr/>
            <p:nvPr/>
          </p:nvSpPr>
          <p:spPr>
            <a:xfrm>
              <a:off x="0" y="0"/>
              <a:ext cx="980821" cy="1471295"/>
            </a:xfrm>
            <a:custGeom>
              <a:avLst/>
              <a:gdLst/>
              <a:ahLst/>
              <a:cxnLst/>
              <a:rect l="l" t="t" r="r" b="b"/>
              <a:pathLst>
                <a:path w="980821" h="1471295">
                  <a:moveTo>
                    <a:pt x="0" y="490474"/>
                  </a:moveTo>
                  <a:cubicBezTo>
                    <a:pt x="0" y="219583"/>
                    <a:pt x="219583" y="0"/>
                    <a:pt x="490474" y="0"/>
                  </a:cubicBezTo>
                  <a:cubicBezTo>
                    <a:pt x="761365" y="0"/>
                    <a:pt x="980821" y="219583"/>
                    <a:pt x="980821" y="490474"/>
                  </a:cubicBezTo>
                  <a:lnTo>
                    <a:pt x="980821" y="980821"/>
                  </a:lnTo>
                  <a:cubicBezTo>
                    <a:pt x="980821" y="1251712"/>
                    <a:pt x="761238" y="1471295"/>
                    <a:pt x="490347" y="1471295"/>
                  </a:cubicBezTo>
                  <a:cubicBezTo>
                    <a:pt x="219456" y="1471295"/>
                    <a:pt x="0" y="1251585"/>
                    <a:pt x="0" y="980821"/>
                  </a:cubicBezTo>
                  <a:close/>
                </a:path>
              </a:pathLst>
            </a:custGeom>
            <a:solidFill>
              <a:srgbClr val="433550"/>
            </a:solidFill>
            <a:ln w="12700">
              <a:solidFill>
                <a:srgbClr val="000000"/>
              </a:solidFill>
            </a:ln>
          </p:spPr>
        </p:sp>
      </p:grpSp>
      <p:sp>
        <p:nvSpPr>
          <p:cNvPr id="35" name="TextBox 35"/>
          <p:cNvSpPr txBox="1"/>
          <p:nvPr/>
        </p:nvSpPr>
        <p:spPr>
          <a:xfrm>
            <a:off x="873621" y="9087296"/>
            <a:ext cx="275779" cy="316260"/>
          </a:xfrm>
          <a:prstGeom prst="rect">
            <a:avLst/>
          </a:prstGeom>
        </p:spPr>
        <p:txBody>
          <a:bodyPr lIns="0" tIns="0" rIns="0" bIns="0" rtlCol="0" anchor="t">
            <a:spAutoFit/>
          </a:bodyPr>
          <a:lstStyle/>
          <a:p>
            <a:pPr algn="l">
              <a:lnSpc>
                <a:spcPts val="2125"/>
              </a:lnSpc>
            </a:pPr>
            <a:r>
              <a:rPr lang="en-US" sz="2125" b="1">
                <a:solidFill>
                  <a:srgbClr val="DAD1E6"/>
                </a:solidFill>
                <a:latin typeface="Arimo Bold"/>
                <a:ea typeface="Arimo Bold"/>
                <a:cs typeface="Arimo Bold"/>
                <a:sym typeface="Arimo Bold"/>
              </a:rPr>
              <a:t>6</a:t>
            </a:r>
          </a:p>
        </p:txBody>
      </p:sp>
      <p:grpSp>
        <p:nvGrpSpPr>
          <p:cNvPr id="43" name="Group 2">
            <a:extLst>
              <a:ext uri="{FF2B5EF4-FFF2-40B4-BE49-F238E27FC236}">
                <a16:creationId xmlns:a16="http://schemas.microsoft.com/office/drawing/2014/main" id="{761196E0-23D3-1855-DD7A-86D515995864}"/>
              </a:ext>
            </a:extLst>
          </p:cNvPr>
          <p:cNvGrpSpPr/>
          <p:nvPr/>
        </p:nvGrpSpPr>
        <p:grpSpPr>
          <a:xfrm>
            <a:off x="0" y="-325636"/>
            <a:ext cx="18288000" cy="10287000"/>
            <a:chOff x="0" y="0"/>
            <a:chExt cx="24384000" cy="13716000"/>
          </a:xfrm>
        </p:grpSpPr>
        <p:sp>
          <p:nvSpPr>
            <p:cNvPr id="44" name="Freeform 3">
              <a:extLst>
                <a:ext uri="{FF2B5EF4-FFF2-40B4-BE49-F238E27FC236}">
                  <a16:creationId xmlns:a16="http://schemas.microsoft.com/office/drawing/2014/main" id="{909BEB07-0EDF-61D0-A9CB-3B55F8281FC8}"/>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0C17"/>
            </a:solidFill>
            <a:ln w="12700">
              <a:solidFill>
                <a:srgbClr val="000000"/>
              </a:solidFill>
            </a:ln>
          </p:spPr>
        </p:sp>
      </p:grpSp>
      <p:sp>
        <p:nvSpPr>
          <p:cNvPr id="45" name="TextBox 44">
            <a:extLst>
              <a:ext uri="{FF2B5EF4-FFF2-40B4-BE49-F238E27FC236}">
                <a16:creationId xmlns:a16="http://schemas.microsoft.com/office/drawing/2014/main" id="{A7910C4C-8FF5-D27E-FB3A-8340F190BF9C}"/>
              </a:ext>
            </a:extLst>
          </p:cNvPr>
          <p:cNvSpPr txBox="1"/>
          <p:nvPr/>
        </p:nvSpPr>
        <p:spPr>
          <a:xfrm>
            <a:off x="6019800" y="3938825"/>
            <a:ext cx="7772400" cy="2215991"/>
          </a:xfrm>
          <a:prstGeom prst="rect">
            <a:avLst/>
          </a:prstGeom>
          <a:noFill/>
        </p:spPr>
        <p:txBody>
          <a:bodyPr wrap="square" rtlCol="0">
            <a:spAutoFit/>
          </a:bodyPr>
          <a:lstStyle/>
          <a:p>
            <a:r>
              <a:rPr lang="en-US" sz="13800" dirty="0">
                <a:solidFill>
                  <a:schemeClr val="bg1"/>
                </a:solidFill>
              </a:rPr>
              <a:t>Thank you </a:t>
            </a:r>
          </a:p>
        </p:txBody>
      </p:sp>
      <p:sp>
        <p:nvSpPr>
          <p:cNvPr id="7" name="Date Placeholder 6">
            <a:extLst>
              <a:ext uri="{FF2B5EF4-FFF2-40B4-BE49-F238E27FC236}">
                <a16:creationId xmlns:a16="http://schemas.microsoft.com/office/drawing/2014/main" id="{9D67B79E-57CA-037D-4129-9808235E094B}"/>
              </a:ext>
            </a:extLst>
          </p:cNvPr>
          <p:cNvSpPr>
            <a:spLocks noGrp="1"/>
          </p:cNvSpPr>
          <p:nvPr>
            <p:ph type="dt" sz="half" idx="10"/>
          </p:nvPr>
        </p:nvSpPr>
        <p:spPr>
          <a:xfrm>
            <a:off x="643681" y="9087296"/>
            <a:ext cx="2133600" cy="365125"/>
          </a:xfrm>
        </p:spPr>
        <p:txBody>
          <a:bodyPr/>
          <a:lstStyle/>
          <a:p>
            <a:fld id="{22FFD419-A929-4339-AE55-6BD8DCF2357C}" type="datetime1">
              <a:rPr lang="en-US" smtClean="0"/>
              <a:t>12/10/2025</a:t>
            </a:fld>
            <a:endParaRPr lang="en-US" dirty="0"/>
          </a:p>
        </p:txBody>
      </p:sp>
      <p:sp>
        <p:nvSpPr>
          <p:cNvPr id="8" name="Slide Number Placeholder 7">
            <a:extLst>
              <a:ext uri="{FF2B5EF4-FFF2-40B4-BE49-F238E27FC236}">
                <a16:creationId xmlns:a16="http://schemas.microsoft.com/office/drawing/2014/main" id="{CFFE3FE7-DE93-AAAE-E50D-9C3143F45A5D}"/>
              </a:ext>
            </a:extLst>
          </p:cNvPr>
          <p:cNvSpPr>
            <a:spLocks noGrp="1"/>
          </p:cNvSpPr>
          <p:nvPr>
            <p:ph type="sldNum" sz="quarter" idx="12"/>
          </p:nvPr>
        </p:nvSpPr>
        <p:spPr>
          <a:xfrm>
            <a:off x="-706859" y="8741916"/>
            <a:ext cx="2133600" cy="365125"/>
          </a:xfrm>
        </p:spPr>
        <p:txBody>
          <a:bodyPr/>
          <a:lstStyle/>
          <a:p>
            <a:fld id="{B6F15528-21DE-4FAA-801E-634DDDAF4B2B}" type="slidenum">
              <a:rPr lang="en-US" smtClean="0"/>
              <a:pPr/>
              <a:t>11</a:t>
            </a:fld>
            <a:endParaRPr lang="en-US" dirty="0"/>
          </a:p>
        </p:txBody>
      </p:sp>
    </p:spTree>
    <p:extLst>
      <p:ext uri="{BB962C8B-B14F-4D97-AF65-F5344CB8AC3E}">
        <p14:creationId xmlns:p14="http://schemas.microsoft.com/office/powerpoint/2010/main" val="892625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964</Words>
  <Application>Microsoft Office PowerPoint</Application>
  <PresentationFormat>Custom</PresentationFormat>
  <Paragraphs>123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Fira Sans</vt:lpstr>
      <vt:lpstr>Arimo Bold</vt:lpstr>
      <vt:lpstr>Arial</vt:lpstr>
      <vt:lpstr>Fira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Unlocking-Data-Speed-A-Guide-to-Database-Indexing.pptx</dc:title>
  <cp:lastModifiedBy>Siddharth</cp:lastModifiedBy>
  <cp:revision>7</cp:revision>
  <dcterms:created xsi:type="dcterms:W3CDTF">2006-08-16T00:00:00Z</dcterms:created>
  <dcterms:modified xsi:type="dcterms:W3CDTF">2025-12-10T09:16:45Z</dcterms:modified>
  <dc:identifier>DAG7FCuwQ38</dc:identifier>
</cp:coreProperties>
</file>